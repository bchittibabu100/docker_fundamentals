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0" r:id="rId1"/>
  </p:sldMasterIdLst>
  <p:notesMasterIdLst>
    <p:notesMasterId r:id="rId43"/>
  </p:notesMasterIdLst>
  <p:handoutMasterIdLst>
    <p:handoutMasterId r:id="rId44"/>
  </p:handoutMasterIdLst>
  <p:sldIdLst>
    <p:sldId id="282" r:id="rId2"/>
    <p:sldId id="257" r:id="rId3"/>
    <p:sldId id="259" r:id="rId4"/>
    <p:sldId id="272" r:id="rId5"/>
    <p:sldId id="283" r:id="rId6"/>
    <p:sldId id="263" r:id="rId7"/>
    <p:sldId id="273" r:id="rId8"/>
    <p:sldId id="260" r:id="rId9"/>
    <p:sldId id="261" r:id="rId10"/>
    <p:sldId id="262" r:id="rId11"/>
    <p:sldId id="284" r:id="rId12"/>
    <p:sldId id="285" r:id="rId13"/>
    <p:sldId id="264" r:id="rId14"/>
    <p:sldId id="274" r:id="rId15"/>
    <p:sldId id="277" r:id="rId16"/>
    <p:sldId id="278" r:id="rId17"/>
    <p:sldId id="268" r:id="rId18"/>
    <p:sldId id="269" r:id="rId19"/>
    <p:sldId id="266" r:id="rId20"/>
    <p:sldId id="267" r:id="rId21"/>
    <p:sldId id="279" r:id="rId22"/>
    <p:sldId id="275" r:id="rId23"/>
    <p:sldId id="270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281" r:id="rId41"/>
    <p:sldId id="276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69060" autoAdjust="0"/>
  </p:normalViewPr>
  <p:slideViewPr>
    <p:cSldViewPr snapToGrid="0" snapToObjects="1">
      <p:cViewPr varScale="1">
        <p:scale>
          <a:sx n="80" d="100"/>
          <a:sy n="80" d="100"/>
        </p:scale>
        <p:origin x="26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FD881-8DBB-1049-9873-D56299261AFC}" type="datetimeFigureOut">
              <a:rPr lang="en-US" smtClean="0"/>
              <a:t>2/11/2017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BCFA1-6ED6-BA4D-A3B7-510ACA29B7D0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823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85394-3AC6-D348-8DD0-6F5B151D88FB}" type="datetimeFigureOut">
              <a:rPr lang="en-US" smtClean="0"/>
              <a:t>2/11/2017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27252-EF20-D744-8857-623D53E3D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413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5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21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37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Machines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virtualized application includes not only the application - which may be only 10s of MB - and the necessary binaries and libraries, but also an entire guest operating system - which may weigh 10s of GB.</a:t>
            </a:r>
          </a:p>
          <a:p>
            <a:endParaRPr lang="de-CH" dirty="0"/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Engine container comprises just the application and its dependencies. It runs as an isolated process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userspace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host operating system, sharing the kernel with other containers. Thus, it enjoys the resource isolation and allocation benefits of VMs but is much more portable and efficient.</a:t>
            </a:r>
          </a:p>
          <a:p>
            <a:endParaRPr lang="de-CH" dirty="0"/>
          </a:p>
          <a:p>
            <a:r>
              <a:rPr lang="de-CH" dirty="0"/>
              <a:t>Docker provides base</a:t>
            </a:r>
            <a:r>
              <a:rPr lang="de-CH" baseline="0" dirty="0"/>
              <a:t> images that contain OS installations we can start from: The OS is not more than an application running on the Kernel...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76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Windows: http://www.zdnet.com/docker-cto-why-microsofts-docker-plans-for-windows-will-matter-to-you-7000035150/</a:t>
            </a:r>
          </a:p>
          <a:p>
            <a:endParaRPr lang="de-CH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"That's why the result of the Microsoft announcement will not allow a container that runs on Linux to run seamlessly on Windows or vice versa. But that's OK because in the context of distributed applications that's not what developers are asking for."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16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09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65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Immediately</a:t>
            </a:r>
            <a:r>
              <a:rPr lang="de-CH" baseline="0" dirty="0"/>
              <a:t> exits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CH" baseline="0" dirty="0"/>
              <a:t>docker 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CH" baseline="0" dirty="0"/>
              <a:t>docker ps –a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CH" baseline="0" dirty="0"/>
              <a:t>Re-attach: docker start –i stoic_wozniak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CH" baseline="0" dirty="0"/>
              <a:t>docker commit –m «message» containerId imageName(e.g. mytest/test1:1.0)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CH" baseline="0" dirty="0"/>
              <a:t>New Image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CH" baseline="0" dirty="0"/>
              <a:t>docker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73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docker run</a:t>
            </a:r>
            <a:r>
              <a:rPr lang="de-CH" baseline="0" dirty="0"/>
              <a:t> --rm to remove container after termination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49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36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docker run -ti d97 /bin/bash</a:t>
            </a:r>
          </a:p>
          <a:p>
            <a:pPr marL="171450" indent="-171450">
              <a:buFontTx/>
              <a:buChar char="-"/>
            </a:pPr>
            <a:r>
              <a:rPr lang="de-DE" baseline="0" dirty="0"/>
              <a:t>testFile.txt -&gt; present</a:t>
            </a:r>
          </a:p>
          <a:p>
            <a:pPr marL="171450" indent="-171450">
              <a:buFontTx/>
              <a:buChar char="-"/>
            </a:pPr>
            <a:r>
              <a:rPr lang="de-DE" baseline="0" dirty="0"/>
              <a:t>set -&gt; env Variable PROVIDER set</a:t>
            </a:r>
            <a:endParaRPr lang="de-DE" dirty="0"/>
          </a:p>
          <a:p>
            <a:endParaRPr lang="en-US" dirty="0"/>
          </a:p>
          <a:p>
            <a:r>
              <a:rPr lang="en-US" dirty="0" err="1"/>
              <a:t>docker</a:t>
            </a:r>
            <a:r>
              <a:rPr lang="en-US" dirty="0"/>
              <a:t> run –P</a:t>
            </a:r>
            <a:r>
              <a:rPr lang="en-US" baseline="0" dirty="0"/>
              <a:t> </a:t>
            </a:r>
            <a:r>
              <a:rPr lang="en-US" dirty="0"/>
              <a:t>-d d97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2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Use docker start, docker attach to reuse container</a:t>
            </a:r>
          </a:p>
          <a:p>
            <a:endParaRPr lang="de-CH" dirty="0"/>
          </a:p>
          <a:p>
            <a:r>
              <a:rPr lang="de-CH" dirty="0"/>
              <a:t>Change script to echo ... &gt;&gt; /log/hello3.log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70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Use</a:t>
            </a:r>
            <a:r>
              <a:rPr lang="de-CH" baseline="0" dirty="0"/>
              <a:t> ifconfig -&gt; eht1 to access from host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07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skydock / skydns: Docker discovery by lightweight DNS server</a:t>
            </a:r>
          </a:p>
          <a:p>
            <a:r>
              <a:rPr lang="de-CH" dirty="0"/>
              <a:t>fig:</a:t>
            </a:r>
            <a:r>
              <a:rPr lang="de-CH" baseline="0" dirty="0"/>
              <a:t> fig.xml: discribe how to build or retrieve each service’s Docker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60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Automatically</a:t>
            </a:r>
            <a:r>
              <a:rPr lang="de-CH" baseline="0" dirty="0"/>
              <a:t> build a Docker image on Docker-Hub:</a:t>
            </a:r>
          </a:p>
          <a:p>
            <a:endParaRPr lang="de-CH" baseline="0" dirty="0"/>
          </a:p>
          <a:p>
            <a:r>
              <a:rPr lang="de-CH" dirty="0"/>
              <a:t>Example: playground-docker-echoey</a:t>
            </a:r>
            <a:r>
              <a:rPr lang="de-CH" baseline="0" dirty="0"/>
              <a:t> in Bitbucket: https://bitbucket.org/inftec/playground-docker-echoey/overview </a:t>
            </a:r>
          </a:p>
          <a:p>
            <a:endParaRPr lang="de-CH" baseline="0" dirty="0"/>
          </a:p>
          <a:p>
            <a:r>
              <a:rPr lang="de-CH" dirty="0"/>
              <a:t>Automated</a:t>
            </a:r>
            <a:r>
              <a:rPr lang="de-CH" baseline="0" dirty="0"/>
              <a:t> Build Repository on Docker Hub: https://registry.hub.docker.com/u/pazoozoo/playground-docker-echoey/</a:t>
            </a:r>
          </a:p>
          <a:p>
            <a:endParaRPr lang="de-CH" dirty="0"/>
          </a:p>
          <a:p>
            <a:r>
              <a:rPr lang="de-CH" dirty="0"/>
              <a:t>Build took around 5 minutes...</a:t>
            </a:r>
          </a:p>
          <a:p>
            <a:endParaRPr lang="de-CH" dirty="0"/>
          </a:p>
          <a:p>
            <a:endParaRPr lang="de-CH" dirty="0"/>
          </a:p>
          <a:p>
            <a:r>
              <a:rPr lang="de-CH" dirty="0"/>
              <a:t>Run on AWS Elastic Beanstalk:</a:t>
            </a:r>
          </a:p>
          <a:p>
            <a:pPr marL="171450" indent="-171450">
              <a:buFontTx/>
              <a:buChar char="-"/>
            </a:pPr>
            <a:r>
              <a:rPr lang="de-CH" dirty="0"/>
              <a:t>Need to ZIP Dockerfile and dependencies (ADD files)</a:t>
            </a:r>
          </a:p>
          <a:p>
            <a:pPr marL="171450" indent="-171450">
              <a:buFontTx/>
              <a:buChar char="-"/>
            </a:pPr>
            <a:r>
              <a:rPr lang="de-CH"/>
              <a:t>Beanstalk</a:t>
            </a:r>
            <a:r>
              <a:rPr lang="de-CH" baseline="0"/>
              <a:t> environment expects HTTP service on first EXPOSEd port though </a:t>
            </a:r>
            <a:r>
              <a:rPr lang="de-CH" baseline="0">
                <a:sym typeface="Wingdings" panose="05000000000000000000" pitchFamily="2" charset="2"/>
              </a:rPr>
              <a:t> not working with dummy echo 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63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cat /proc/meminfo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serverCount</a:t>
            </a:r>
            <a:r>
              <a:rPr lang="en-US" dirty="0"/>
              <a:t>=1</a:t>
            </a:r>
          </a:p>
          <a:p>
            <a:r>
              <a:rPr lang="en-US" dirty="0" err="1"/>
              <a:t>startDate</a:t>
            </a:r>
            <a:r>
              <a:rPr lang="en-US" dirty="0"/>
              <a:t>=$(date)</a:t>
            </a:r>
          </a:p>
          <a:p>
            <a:r>
              <a:rPr lang="en-US" dirty="0"/>
              <a:t>for n in $(</a:t>
            </a:r>
            <a:r>
              <a:rPr lang="en-US" dirty="0" err="1"/>
              <a:t>seq</a:t>
            </a:r>
            <a:r>
              <a:rPr lang="en-US" dirty="0"/>
              <a:t> 1 1 $</a:t>
            </a:r>
            <a:r>
              <a:rPr lang="en-US" dirty="0" err="1"/>
              <a:t>serverCount</a:t>
            </a:r>
            <a:r>
              <a:rPr lang="en-US" dirty="0"/>
              <a:t>)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</a:t>
            </a:r>
            <a:r>
              <a:rPr lang="en-US" dirty="0" err="1"/>
              <a:t>hostPort</a:t>
            </a:r>
            <a:r>
              <a:rPr lang="en-US" dirty="0"/>
              <a:t>=$(($n + 10000))</a:t>
            </a:r>
          </a:p>
          <a:p>
            <a:r>
              <a:rPr lang="en-US" dirty="0"/>
              <a:t>  provider="World #$n"</a:t>
            </a:r>
          </a:p>
          <a:p>
            <a:r>
              <a:rPr lang="en-US" dirty="0"/>
              <a:t>  echo Starting $n. Host Port: $</a:t>
            </a:r>
            <a:r>
              <a:rPr lang="en-US" dirty="0" err="1"/>
              <a:t>hostPort</a:t>
            </a:r>
            <a:r>
              <a:rPr lang="en-US" dirty="0"/>
              <a:t>, Message: $provider</a:t>
            </a:r>
          </a:p>
          <a:p>
            <a:r>
              <a:rPr lang="en-US" dirty="0"/>
              <a:t>  </a:t>
            </a:r>
            <a:r>
              <a:rPr lang="en-US" dirty="0" err="1"/>
              <a:t>docker</a:t>
            </a:r>
            <a:r>
              <a:rPr lang="en-US" dirty="0"/>
              <a:t> run -d -p $hostPort:5000 -e "PROVIDER=$provider" training/</a:t>
            </a:r>
            <a:r>
              <a:rPr lang="en-US" dirty="0" err="1"/>
              <a:t>webapp</a:t>
            </a:r>
            <a:endParaRPr lang="en-US" dirty="0"/>
          </a:p>
          <a:p>
            <a:r>
              <a:rPr lang="en-US" dirty="0"/>
              <a:t>done</a:t>
            </a:r>
          </a:p>
          <a:p>
            <a:r>
              <a:rPr lang="en-US" dirty="0"/>
              <a:t>echo</a:t>
            </a:r>
          </a:p>
          <a:p>
            <a:r>
              <a:rPr lang="en-US" dirty="0"/>
              <a:t>echo Started $n containers. Start time: $</a:t>
            </a:r>
            <a:r>
              <a:rPr lang="en-US" dirty="0" err="1"/>
              <a:t>startDate</a:t>
            </a:r>
            <a:r>
              <a:rPr lang="en-US" dirty="0"/>
              <a:t>, end time: $(date)</a:t>
            </a:r>
          </a:p>
          <a:p>
            <a:endParaRPr lang="de-CH" dirty="0"/>
          </a:p>
          <a:p>
            <a:endParaRPr lang="de-CH" dirty="0"/>
          </a:p>
          <a:p>
            <a:r>
              <a:rPr lang="de-CH" dirty="0"/>
              <a:t>Stop</a:t>
            </a:r>
            <a:r>
              <a:rPr lang="de-CH" baseline="0" dirty="0"/>
              <a:t> all: docker stop $(docker ps –q)</a:t>
            </a:r>
          </a:p>
          <a:p>
            <a:r>
              <a:rPr lang="de-CH" baseline="0" dirty="0"/>
              <a:t>Remove all stopped: docker rm $(docker ps –aq)</a:t>
            </a:r>
          </a:p>
          <a:p>
            <a:endParaRPr lang="de-CH" baseline="0" dirty="0"/>
          </a:p>
          <a:p>
            <a:endParaRPr lang="de-CH" baseline="0" dirty="0"/>
          </a:p>
          <a:p>
            <a:r>
              <a:rPr lang="de-CH" baseline="0" dirty="0"/>
              <a:t>Test run:</a:t>
            </a:r>
          </a:p>
          <a:p>
            <a:r>
              <a:rPr lang="de-CH" baseline="0" dirty="0"/>
              <a:t>free –m: 1494</a:t>
            </a:r>
          </a:p>
          <a:p>
            <a:r>
              <a:rPr lang="de-CH" baseline="0" dirty="0"/>
              <a:t>1 Container: 1480</a:t>
            </a:r>
            <a:endParaRPr lang="en-US" baseline="0" dirty="0"/>
          </a:p>
          <a:p>
            <a:r>
              <a:rPr lang="de-CH" baseline="0" dirty="0"/>
              <a:t>100 Containers: 124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58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61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93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68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88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71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82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37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41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74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247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81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644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170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6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23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27252-EF20-D744-8857-623D53E3D72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7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5040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463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7650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044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4099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717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526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54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198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028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48423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3783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62799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1759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67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585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6122326"/>
            <a:ext cx="9153479" cy="74515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68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90727" y="6316321"/>
            <a:ext cx="536421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1BA865F8-D0B2-3245-A9F6-5F06F5A3A0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011551" y="959109"/>
            <a:ext cx="6286589" cy="607027"/>
          </a:xfrm>
        </p:spPr>
        <p:txBody>
          <a:bodyPr>
            <a:noAutofit/>
          </a:bodyPr>
          <a:lstStyle>
            <a:lvl1pPr marL="0" indent="0">
              <a:buNone/>
              <a:defRPr sz="4800" b="1" baseline="0">
                <a:solidFill>
                  <a:srgbClr val="3C3C3C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1011551" y="1923934"/>
            <a:ext cx="6113626" cy="914400"/>
          </a:xfrm>
        </p:spPr>
        <p:txBody>
          <a:bodyPr>
            <a:noAutofit/>
          </a:bodyPr>
          <a:lstStyle>
            <a:lvl1pPr>
              <a:defRPr sz="2800">
                <a:solidFill>
                  <a:srgbClr val="3C3C3C"/>
                </a:solidFill>
              </a:defRPr>
            </a:lvl1pPr>
            <a:lvl2pPr>
              <a:defRPr sz="2400">
                <a:solidFill>
                  <a:srgbClr val="3C3C3C"/>
                </a:solidFill>
              </a:defRPr>
            </a:lvl2pPr>
            <a:lvl3pPr>
              <a:defRPr sz="2000">
                <a:solidFill>
                  <a:srgbClr val="3C3C3C"/>
                </a:solidFill>
              </a:defRPr>
            </a:lvl3pPr>
            <a:lvl4pPr>
              <a:defRPr sz="1800">
                <a:solidFill>
                  <a:srgbClr val="3C3C3C"/>
                </a:solidFill>
              </a:defRPr>
            </a:lvl4pPr>
            <a:lvl5pPr>
              <a:defRPr sz="1800">
                <a:solidFill>
                  <a:srgbClr val="3C3C3C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78351" y="6316321"/>
            <a:ext cx="3222555" cy="365125"/>
          </a:xfrm>
        </p:spPr>
        <p:txBody>
          <a:bodyPr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2" name="Picture 1" descr="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75" y="6286536"/>
            <a:ext cx="455968" cy="44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3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278560"/>
            <a:ext cx="9144000" cy="3579440"/>
          </a:xfrm>
          <a:prstGeom prst="rect">
            <a:avLst/>
          </a:prstGeom>
          <a:gradFill>
            <a:gsLst>
              <a:gs pos="77000">
                <a:schemeClr val="bg1">
                  <a:lumMod val="95000"/>
                </a:schemeClr>
              </a:gs>
              <a:gs pos="0">
                <a:schemeClr val="bg1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275972" y="4386414"/>
            <a:ext cx="6760495" cy="607027"/>
          </a:xfrm>
        </p:spPr>
        <p:txBody>
          <a:bodyPr>
            <a:noAutofit/>
          </a:bodyPr>
          <a:lstStyle>
            <a:lvl1pPr marL="0" indent="0">
              <a:buNone/>
              <a:defRPr sz="48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Presentation</a:t>
            </a: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304407" y="4008740"/>
            <a:ext cx="3234639" cy="366292"/>
          </a:xfrm>
        </p:spPr>
        <p:txBody>
          <a:bodyPr>
            <a:noAutofit/>
          </a:bodyPr>
          <a:lstStyle>
            <a:lvl1pPr marL="0" indent="0">
              <a:buNone/>
              <a:defRPr sz="2200" b="0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304407" y="5174448"/>
            <a:ext cx="3234639" cy="366292"/>
          </a:xfrm>
        </p:spPr>
        <p:txBody>
          <a:bodyPr>
            <a:noAutofit/>
          </a:bodyPr>
          <a:lstStyle>
            <a:lvl1pPr marL="0" indent="0">
              <a:buNone/>
              <a:defRPr sz="2200" b="0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Date: XX.XX.XXXX</a:t>
            </a: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90727" y="6316321"/>
            <a:ext cx="536421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1BA865F8-D0B2-3245-A9F6-5F06F5A3A0C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300" y="1324509"/>
            <a:ext cx="4038544" cy="9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084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9153479" cy="686747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191753" y="4203814"/>
            <a:ext cx="6760495" cy="361271"/>
          </a:xfrm>
        </p:spPr>
        <p:txBody>
          <a:bodyPr>
            <a:noAutofit/>
          </a:bodyPr>
          <a:lstStyle>
            <a:lvl1pPr marL="0" indent="0" algn="ctr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End of Presentation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91753" y="4582832"/>
            <a:ext cx="6760495" cy="36406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Thank you for viewing.</a:t>
            </a:r>
          </a:p>
        </p:txBody>
      </p:sp>
      <p:pic>
        <p:nvPicPr>
          <p:cNvPr id="2" name="Picture 1" descr="stacke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476" y="1947986"/>
            <a:ext cx="1571048" cy="150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0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BA865F8-D0B2-3245-A9F6-5F06F5A3A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1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49" r:id="rId18"/>
    <p:sldLayoutId id="2147483661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installation/linux/repo_files/centos/docker.rep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t.docker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whatisdocker/" TargetMode="External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ocs.docker.com/" TargetMode="External"/><Relationship Id="rId4" Type="http://schemas.openxmlformats.org/officeDocument/2006/relationships/hyperlink" Target="https://www.docker.com/try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431985" y="962025"/>
            <a:ext cx="6286589" cy="60702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dirty="0"/>
              <a:t>Docker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518249" y="1876425"/>
            <a:ext cx="6113626" cy="9144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dirty="0"/>
              <a:t>Container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200400"/>
            <a:ext cx="27432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 dirty="0">
              <a:solidFill>
                <a:srgbClr val="3C3C3C"/>
              </a:solidFill>
              <a:latin typeface="Arial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095500" y="2486025"/>
            <a:ext cx="5145908" cy="3354332"/>
            <a:chOff x="6327228" y="235112"/>
            <a:chExt cx="2678411" cy="176105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7228" y="235112"/>
              <a:ext cx="2599920" cy="1761057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775815" y="1784295"/>
              <a:ext cx="1229824" cy="129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000" dirty="0"/>
                <a:t>[www.docker.com]</a:t>
              </a:r>
              <a:endParaRPr lang="en-US" sz="10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200400" y="3193211"/>
            <a:ext cx="2743200" cy="457200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8445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Agenda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1011550" y="1923934"/>
            <a:ext cx="7712035" cy="4098494"/>
          </a:xfrm>
        </p:spPr>
        <p:txBody>
          <a:bodyPr>
            <a:normAutofit/>
          </a:bodyPr>
          <a:lstStyle/>
          <a:p>
            <a:r>
              <a:rPr lang="de-CH" dirty="0"/>
              <a:t>What is Docker?</a:t>
            </a:r>
          </a:p>
          <a:p>
            <a:pPr lvl="1"/>
            <a:r>
              <a:rPr lang="de-CH" dirty="0"/>
              <a:t>Docker vs. Virtual Machine</a:t>
            </a:r>
          </a:p>
          <a:p>
            <a:pPr lvl="1"/>
            <a:r>
              <a:rPr lang="de-CH" dirty="0"/>
              <a:t>History, Status, Run Platforms</a:t>
            </a:r>
          </a:p>
          <a:p>
            <a:pPr lvl="1"/>
            <a:r>
              <a:rPr lang="de-CH" dirty="0"/>
              <a:t>Hello World</a:t>
            </a:r>
          </a:p>
          <a:p>
            <a:r>
              <a:rPr lang="de-CH" dirty="0"/>
              <a:t>Images and Containers</a:t>
            </a:r>
          </a:p>
          <a:p>
            <a:r>
              <a:rPr lang="de-CH" dirty="0"/>
              <a:t>Volume Mounting, Port Publishing, Linking</a:t>
            </a:r>
          </a:p>
          <a:p>
            <a:r>
              <a:rPr lang="de-CH" dirty="0"/>
              <a:t>Around Docker, Docker Use Cases</a:t>
            </a:r>
          </a:p>
          <a:p>
            <a:r>
              <a:rPr lang="de-CH" dirty="0"/>
              <a:t>Hands-On Workshop</a:t>
            </a:r>
          </a:p>
          <a:p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91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What is Docker?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4"/>
            <a:ext cx="6113626" cy="3303386"/>
          </a:xfrm>
        </p:spPr>
        <p:txBody>
          <a:bodyPr/>
          <a:lstStyle/>
          <a:p>
            <a:pPr marL="0" indent="0">
              <a:buNone/>
            </a:pPr>
            <a:r>
              <a:rPr lang="en-US" i="1" dirty="0" err="1"/>
              <a:t>Docker</a:t>
            </a:r>
            <a:r>
              <a:rPr lang="en-US" i="1" dirty="0"/>
              <a:t> is an open-source project that automates the deployment of applications inside software containers, by providing an additional layer of abstraction and automation of operating system–level virtualization on Linux.</a:t>
            </a:r>
          </a:p>
          <a:p>
            <a:pPr marL="0" indent="0" algn="r">
              <a:buNone/>
            </a:pPr>
            <a:r>
              <a:rPr lang="de-CH" sz="1800" dirty="0"/>
              <a:t>[Source: en.wikipedia.org]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8287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Docker: Name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4"/>
            <a:ext cx="7743566" cy="41195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b="1" dirty="0"/>
              <a:t>docker [naut.]: der Dockarbeiter, der Hafenarbeiter</a:t>
            </a:r>
          </a:p>
          <a:p>
            <a:pPr marL="0" indent="0" algn="r">
              <a:buNone/>
            </a:pPr>
            <a:r>
              <a:rPr lang="de-CH" sz="1800" dirty="0"/>
              <a:t>Source: leo.org</a:t>
            </a:r>
          </a:p>
          <a:p>
            <a:r>
              <a:rPr lang="de-CH" dirty="0"/>
              <a:t>Provide a uniformed wrapper around a software package: </a:t>
            </a:r>
            <a:r>
              <a:rPr lang="de-CH" i="1" dirty="0"/>
              <a:t>«Build, Ship and Run Any App, Anywhere»</a:t>
            </a:r>
            <a:r>
              <a:rPr lang="de-CH" dirty="0"/>
              <a:t> </a:t>
            </a:r>
            <a:r>
              <a:rPr lang="de-CH" sz="1800" dirty="0"/>
              <a:t>[www.docker.com]</a:t>
            </a:r>
          </a:p>
          <a:p>
            <a:pPr lvl="1"/>
            <a:r>
              <a:rPr lang="de-CH" sz="2800" dirty="0"/>
              <a:t>Similar to shipping containers: The container is always the same, regardless of the contents and thus fits on all trucks, cranes, ships, ...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327228" y="235112"/>
            <a:ext cx="2678411" cy="1795404"/>
            <a:chOff x="6327228" y="235112"/>
            <a:chExt cx="2678411" cy="179540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7228" y="235112"/>
              <a:ext cx="2599920" cy="1761057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775815" y="1784295"/>
              <a:ext cx="12298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dirty="0"/>
                <a:t>[www.docker.com]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444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 descr="Virt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8" y="206668"/>
            <a:ext cx="6715123" cy="592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CH" dirty="0"/>
              <a:t>Docker vs. Virtual Machine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668" y="1716527"/>
            <a:ext cx="3305799" cy="3687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51" y="2732552"/>
            <a:ext cx="3325624" cy="26714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54845" y="5755149"/>
            <a:ext cx="494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Source: https://www.docker.com/whatisdocker/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0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Docker Technology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libvirt: Platform Virtualization</a:t>
            </a:r>
          </a:p>
          <a:p>
            <a:r>
              <a:rPr lang="de-CH" dirty="0"/>
              <a:t>LXC (LinuX Containers): Multiple isolated Linux systems (containers) on a single host</a:t>
            </a:r>
          </a:p>
          <a:p>
            <a:r>
              <a:rPr lang="de-CH" dirty="0"/>
              <a:t>Layered File System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200008" y="3331779"/>
            <a:ext cx="4247204" cy="2669628"/>
            <a:chOff x="5200008" y="3331779"/>
            <a:chExt cx="4247204" cy="2669628"/>
          </a:xfrm>
        </p:grpSpPr>
        <p:pic>
          <p:nvPicPr>
            <p:cNvPr id="1026" name="Picture 2" descr="https://docs.docker.com/terms/images/docker-filesystems-multilayer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0008" y="3331779"/>
              <a:ext cx="3559504" cy="2669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6011614" y="5735708"/>
              <a:ext cx="34355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000" dirty="0"/>
                <a:t>[Source: https://docs.docker.com/terms/layer/]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043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CH" dirty="0"/>
              <a:t>Docker History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2013-03: Releases as Open Source</a:t>
            </a:r>
          </a:p>
          <a:p>
            <a:r>
              <a:rPr lang="de-CH" dirty="0"/>
              <a:t>2013-09: Red Hat collaboration (Fedora, RHEL, OpenShift)</a:t>
            </a:r>
          </a:p>
          <a:p>
            <a:r>
              <a:rPr lang="de-CH" dirty="0"/>
              <a:t>2014-03: 34th most starred GitHub project</a:t>
            </a:r>
          </a:p>
          <a:p>
            <a:r>
              <a:rPr lang="de-CH" dirty="0"/>
              <a:t>2014-05: JAX Innovation Award (most innovative open technology)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08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Technology Radar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2014-01: Assess</a:t>
            </a:r>
          </a:p>
          <a:p>
            <a:r>
              <a:rPr lang="de-CH" dirty="0"/>
              <a:t>2014-07: Trial</a:t>
            </a:r>
          </a:p>
          <a:p>
            <a:r>
              <a:rPr lang="de-CH" dirty="0"/>
              <a:t>Source: http://www.thoughtworks.com/radar/tools/docker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927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Run Platforms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de-CH" dirty="0"/>
              <a:t>Various Linux distributions (Ubuntu, Fedora, RHEL, Centos, openSUSE, ...)</a:t>
            </a:r>
          </a:p>
          <a:p>
            <a:r>
              <a:rPr lang="de-CH" dirty="0"/>
              <a:t>Cloud (Amazon EC2, Google Compute Engine, Rackspace)</a:t>
            </a:r>
          </a:p>
          <a:p>
            <a:r>
              <a:rPr lang="de-CH" dirty="0"/>
              <a:t>Microsoft </a:t>
            </a:r>
            <a:r>
              <a:rPr lang="de-CH" dirty="0" err="1"/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268096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2388" y="22225"/>
            <a:ext cx="9103710" cy="60827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Install Docker</a:t>
            </a:r>
          </a:p>
          <a:p>
            <a:r>
              <a:rPr lang="en-US" dirty="0"/>
              <a:t>You can install Docker in 3 different ways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dirty="0"/>
              <a:t>Install using Repository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dirty="0"/>
              <a:t>Install from Package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dirty="0"/>
              <a:t>Install using Installation-Script from </a:t>
            </a:r>
            <a:r>
              <a:rPr lang="en-US" dirty="0" err="1"/>
              <a:t>docker</a:t>
            </a:r>
            <a:r>
              <a:rPr lang="en-US" dirty="0"/>
              <a:t> site.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Install Using Repository:</a:t>
            </a:r>
          </a:p>
          <a:p>
            <a:pPr marL="457200" lvl="1" indent="0">
              <a:buNone/>
            </a:pPr>
            <a:r>
              <a:rPr lang="en-US" dirty="0"/>
              <a:t>-----------------------------</a:t>
            </a:r>
          </a:p>
          <a:p>
            <a:pPr marL="457200" lvl="1" indent="0">
              <a:buNone/>
            </a:pPr>
            <a:r>
              <a:rPr lang="en-US" sz="2000" dirty="0"/>
              <a:t>Set up the repository</a:t>
            </a:r>
          </a:p>
          <a:p>
            <a:pPr marL="457200" lvl="1" indent="0">
              <a:buNone/>
            </a:pPr>
            <a:r>
              <a:rPr lang="en-US" sz="2000" dirty="0"/>
              <a:t>1. </a:t>
            </a:r>
            <a:r>
              <a:rPr lang="en-US" sz="2000" dirty="0">
                <a:solidFill>
                  <a:schemeClr val="tx1"/>
                </a:solidFill>
              </a:rPr>
              <a:t>Install yum-</a:t>
            </a:r>
            <a:r>
              <a:rPr lang="en-US" sz="2000" dirty="0" err="1">
                <a:solidFill>
                  <a:schemeClr val="tx1"/>
                </a:solidFill>
              </a:rPr>
              <a:t>utils</a:t>
            </a:r>
            <a:r>
              <a:rPr lang="en-US" sz="2000" dirty="0">
                <a:solidFill>
                  <a:schemeClr val="tx1"/>
                </a:solidFill>
              </a:rPr>
              <a:t>, which provides the yum-config-manager utility: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    $ </a:t>
            </a:r>
            <a:r>
              <a:rPr lang="en-US" sz="2000" dirty="0" err="1">
                <a:solidFill>
                  <a:schemeClr val="tx1"/>
                </a:solidFill>
              </a:rPr>
              <a:t>sudo</a:t>
            </a:r>
            <a:r>
              <a:rPr lang="en-US" sz="2000" dirty="0">
                <a:solidFill>
                  <a:schemeClr val="tx1"/>
                </a:solidFill>
              </a:rPr>
              <a:t> yum </a:t>
            </a:r>
            <a:r>
              <a:rPr lang="en-US" sz="2000" b="1" dirty="0">
                <a:solidFill>
                  <a:schemeClr val="tx1"/>
                </a:solidFill>
              </a:rPr>
              <a:t>install</a:t>
            </a:r>
            <a:r>
              <a:rPr lang="en-US" sz="2000" dirty="0">
                <a:solidFill>
                  <a:schemeClr val="tx1"/>
                </a:solidFill>
              </a:rPr>
              <a:t> -y yum-</a:t>
            </a:r>
            <a:r>
              <a:rPr lang="en-US" sz="2000" dirty="0" err="1">
                <a:solidFill>
                  <a:schemeClr val="tx1"/>
                </a:solidFill>
              </a:rPr>
              <a:t>utils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sz="2000" dirty="0">
                <a:solidFill>
                  <a:schemeClr val="tx1"/>
                </a:solidFill>
              </a:rPr>
              <a:t>Use the following command to set up the stable repository:</a:t>
            </a:r>
          </a:p>
          <a:p>
            <a:pPr marL="457200" lvl="1" indent="0">
              <a:buNone/>
            </a:pPr>
            <a:r>
              <a:rPr lang="en-US" dirty="0"/>
              <a:t>        </a:t>
            </a:r>
          </a:p>
        </p:txBody>
      </p:sp>
    </p:spTree>
    <p:extLst>
      <p:ext uri="{BB962C8B-B14F-4D97-AF65-F5344CB8AC3E}">
        <p14:creationId xmlns:p14="http://schemas.microsoft.com/office/powerpoint/2010/main" val="1042921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3" y="31750"/>
            <a:ext cx="9079288" cy="60748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$</a:t>
            </a:r>
            <a:r>
              <a:rPr lang="en-US" sz="2000" dirty="0">
                <a:solidFill>
                  <a:schemeClr val="tx1"/>
                </a:solidFill>
              </a:rPr>
              <a:t> yum-config-manager --add-repo </a:t>
            </a:r>
            <a:r>
              <a:rPr lang="en-US" sz="2000" dirty="0">
                <a:solidFill>
                  <a:schemeClr val="tx1"/>
                </a:solidFill>
                <a:hlinkClick r:id="rId3"/>
              </a:rPr>
              <a:t>https://docs.docker.com/engine/installation/linux/repo_files/centos/docker.repo</a:t>
            </a:r>
          </a:p>
          <a:p>
            <a:r>
              <a:rPr lang="en-US" sz="2000" dirty="0">
                <a:solidFill>
                  <a:schemeClr val="tx1"/>
                </a:solidFill>
              </a:rPr>
              <a:t>$ yum -y </a:t>
            </a:r>
            <a:r>
              <a:rPr lang="en-US" sz="2000" b="1" dirty="0">
                <a:solidFill>
                  <a:schemeClr val="tx1"/>
                </a:solidFill>
              </a:rPr>
              <a:t>install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docker</a:t>
            </a:r>
            <a:r>
              <a:rPr lang="en-US" sz="2000" dirty="0">
                <a:solidFill>
                  <a:schemeClr val="tx1"/>
                </a:solidFill>
              </a:rPr>
              <a:t>-</a:t>
            </a:r>
            <a:r>
              <a:rPr lang="en-US" sz="2000" b="1" dirty="0">
                <a:solidFill>
                  <a:schemeClr val="tx1"/>
                </a:solidFill>
              </a:rPr>
              <a:t>engine</a:t>
            </a:r>
          </a:p>
          <a:p>
            <a:r>
              <a:rPr lang="en-US" sz="2000" dirty="0">
                <a:solidFill>
                  <a:schemeClr val="tx1"/>
                </a:solidFill>
              </a:rPr>
              <a:t>$ </a:t>
            </a:r>
            <a:r>
              <a:rPr lang="en-US" sz="2000" dirty="0" err="1">
                <a:solidFill>
                  <a:schemeClr val="tx1"/>
                </a:solidFill>
              </a:rPr>
              <a:t>systemctl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start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docker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You can use the curl command to install on several platforms: 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curl -s </a:t>
            </a:r>
            <a:r>
              <a:rPr lang="en-US" sz="2000" dirty="0">
                <a:solidFill>
                  <a:schemeClr val="tx1"/>
                </a:solidFill>
                <a:hlinkClick r:id="rId4"/>
              </a:rPr>
              <a:t>https://get.docker.com/</a:t>
            </a:r>
            <a:r>
              <a:rPr lang="en-US" sz="2000" dirty="0">
                <a:solidFill>
                  <a:schemeClr val="tx1"/>
                </a:solidFill>
              </a:rPr>
              <a:t> | </a:t>
            </a:r>
            <a:r>
              <a:rPr lang="en-US" sz="2000" dirty="0" err="1">
                <a:solidFill>
                  <a:schemeClr val="tx1"/>
                </a:solidFill>
              </a:rPr>
              <a:t>sudo</a:t>
            </a:r>
            <a:r>
              <a:rPr lang="en-US" sz="2000" dirty="0">
                <a:solidFill>
                  <a:schemeClr val="tx1"/>
                </a:solidFill>
              </a:rPr>
              <a:t> </a:t>
            </a:r>
            <a:r>
              <a:rPr lang="en-US" sz="2000" dirty="0" err="1">
                <a:solidFill>
                  <a:schemeClr val="tx1"/>
                </a:solidFill>
              </a:rPr>
              <a:t>sh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40404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76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Hello World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3"/>
            <a:ext cx="6113626" cy="4087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b="1" dirty="0"/>
              <a:t>Simple Command - Ad-Hoc Container</a:t>
            </a:r>
          </a:p>
          <a:p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ubuntu echo Hello World</a:t>
            </a:r>
          </a:p>
          <a:p>
            <a:pPr lvl="1"/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images [-a]</a:t>
            </a:r>
          </a:p>
          <a:p>
            <a:pPr lvl="1"/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ps –a</a:t>
            </a:r>
            <a:endParaRPr lang="de-C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751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Terminology -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0" y="1923933"/>
            <a:ext cx="7566965" cy="4043729"/>
          </a:xfrm>
        </p:spPr>
        <p:txBody>
          <a:bodyPr>
            <a:normAutofit/>
          </a:bodyPr>
          <a:lstStyle/>
          <a:p>
            <a:r>
              <a:rPr lang="de-CH" dirty="0"/>
              <a:t>Persisted snapshot that can be run</a:t>
            </a:r>
          </a:p>
          <a:p>
            <a:pPr lvl="1"/>
            <a:r>
              <a:rPr lang="de-CH" i="1" dirty="0"/>
              <a:t>images: </a:t>
            </a:r>
            <a:r>
              <a:rPr lang="de-CH" dirty="0"/>
              <a:t>List all local images</a:t>
            </a:r>
          </a:p>
          <a:p>
            <a:pPr lvl="1"/>
            <a:r>
              <a:rPr lang="de-CH" i="1" dirty="0"/>
              <a:t>run</a:t>
            </a:r>
            <a:r>
              <a:rPr lang="de-CH" dirty="0"/>
              <a:t>: Create a container from an image and execute a command in it</a:t>
            </a:r>
          </a:p>
          <a:p>
            <a:pPr lvl="1"/>
            <a:r>
              <a:rPr lang="de-CH" i="1" dirty="0"/>
              <a:t>tag</a:t>
            </a:r>
            <a:r>
              <a:rPr lang="de-CH" dirty="0"/>
              <a:t>: Tag an image</a:t>
            </a:r>
          </a:p>
          <a:p>
            <a:pPr lvl="1"/>
            <a:r>
              <a:rPr lang="de-CH" i="1" dirty="0"/>
              <a:t>pull</a:t>
            </a:r>
            <a:r>
              <a:rPr lang="de-CH" dirty="0"/>
              <a:t>: Download image from repository</a:t>
            </a:r>
          </a:p>
          <a:p>
            <a:pPr lvl="1"/>
            <a:r>
              <a:rPr lang="de-CH" i="1" dirty="0"/>
              <a:t>rmi</a:t>
            </a:r>
            <a:r>
              <a:rPr lang="de-CH" dirty="0"/>
              <a:t>: Delete a local image</a:t>
            </a:r>
          </a:p>
          <a:p>
            <a:pPr lvl="2"/>
            <a:r>
              <a:rPr lang="de-CH" dirty="0"/>
              <a:t>This will also remove intermediate images if no longer used</a:t>
            </a:r>
          </a:p>
        </p:txBody>
      </p:sp>
    </p:spTree>
    <p:extLst>
      <p:ext uri="{BB962C8B-B14F-4D97-AF65-F5344CB8AC3E}">
        <p14:creationId xmlns:p14="http://schemas.microsoft.com/office/powerpoint/2010/main" val="402152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CH" dirty="0"/>
              <a:t>Terminology - Container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3"/>
            <a:ext cx="7379176" cy="4055761"/>
          </a:xfrm>
        </p:spPr>
        <p:txBody>
          <a:bodyPr>
            <a:normAutofit/>
          </a:bodyPr>
          <a:lstStyle/>
          <a:p>
            <a:r>
              <a:rPr lang="de-CH" dirty="0"/>
              <a:t>Runnable instance of an image</a:t>
            </a:r>
          </a:p>
          <a:p>
            <a:pPr lvl="1"/>
            <a:r>
              <a:rPr lang="de-CH" i="1" dirty="0"/>
              <a:t>ps:</a:t>
            </a:r>
            <a:r>
              <a:rPr lang="de-CH" dirty="0"/>
              <a:t> List all running containers</a:t>
            </a:r>
          </a:p>
          <a:p>
            <a:pPr lvl="1"/>
            <a:r>
              <a:rPr lang="de-CH" i="1" dirty="0"/>
              <a:t>ps –a</a:t>
            </a:r>
            <a:r>
              <a:rPr lang="de-CH" dirty="0"/>
              <a:t>: List all containers (incl. stopped)</a:t>
            </a:r>
          </a:p>
          <a:p>
            <a:pPr lvl="1"/>
            <a:r>
              <a:rPr lang="de-CH" i="1" dirty="0"/>
              <a:t>top</a:t>
            </a:r>
            <a:r>
              <a:rPr lang="de-CH" dirty="0"/>
              <a:t>: Display processes of a container</a:t>
            </a:r>
          </a:p>
          <a:p>
            <a:pPr lvl="1"/>
            <a:r>
              <a:rPr lang="de-CH" i="1" dirty="0"/>
              <a:t>start</a:t>
            </a:r>
            <a:r>
              <a:rPr lang="de-CH" dirty="0"/>
              <a:t>: Start a stopped container</a:t>
            </a:r>
          </a:p>
          <a:p>
            <a:pPr lvl="1"/>
            <a:r>
              <a:rPr lang="de-CH" i="1" dirty="0"/>
              <a:t>stop</a:t>
            </a:r>
            <a:r>
              <a:rPr lang="de-CH" dirty="0"/>
              <a:t>: Stop a running container</a:t>
            </a:r>
          </a:p>
          <a:p>
            <a:pPr lvl="1"/>
            <a:r>
              <a:rPr lang="de-CH" i="1" dirty="0"/>
              <a:t>pause</a:t>
            </a:r>
            <a:r>
              <a:rPr lang="de-CH" dirty="0"/>
              <a:t>: Pause all processes within a container</a:t>
            </a:r>
          </a:p>
          <a:p>
            <a:pPr lvl="1"/>
            <a:r>
              <a:rPr lang="de-CH" i="1" dirty="0"/>
              <a:t>rm</a:t>
            </a:r>
            <a:r>
              <a:rPr lang="de-CH" dirty="0"/>
              <a:t>: Delete a container</a:t>
            </a:r>
          </a:p>
          <a:p>
            <a:pPr lvl="1"/>
            <a:r>
              <a:rPr lang="de-CH" i="1" dirty="0"/>
              <a:t>commit</a:t>
            </a:r>
            <a:r>
              <a:rPr lang="de-CH" dirty="0"/>
              <a:t>: Create an image from a container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469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5645498" y="5095649"/>
            <a:ext cx="1718268" cy="71343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Container</a:t>
            </a:r>
          </a:p>
          <a:p>
            <a:pPr algn="ctr"/>
            <a:r>
              <a:rPr lang="de-CH" dirty="0"/>
              <a:t>cid4</a:t>
            </a:r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5493098" y="4732231"/>
            <a:ext cx="1718268" cy="71343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Container</a:t>
            </a:r>
          </a:p>
          <a:p>
            <a:pPr algn="ctr"/>
            <a:r>
              <a:rPr lang="de-CH" dirty="0"/>
              <a:t>cid3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Image vs. Container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95270" y="1909187"/>
            <a:ext cx="1718268" cy="7134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Base Image</a:t>
            </a:r>
          </a:p>
          <a:p>
            <a:pPr algn="ctr"/>
            <a:r>
              <a:rPr lang="de-CH" i="1" dirty="0"/>
              <a:t>ubuntu:latest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85433" y="1909186"/>
            <a:ext cx="1718268" cy="71343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Container</a:t>
            </a:r>
          </a:p>
          <a:p>
            <a:pPr algn="ctr"/>
            <a:r>
              <a:rPr lang="de-CH" dirty="0"/>
              <a:t>cid1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3"/>
            <a:endCxn id="6" idx="1"/>
          </p:cNvCxnSpPr>
          <p:nvPr/>
        </p:nvCxnSpPr>
        <p:spPr>
          <a:xfrm flipV="1">
            <a:off x="2813538" y="2265903"/>
            <a:ext cx="247189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53660" y="191856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run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285433" y="3322385"/>
            <a:ext cx="1718268" cy="71343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Container</a:t>
            </a:r>
          </a:p>
          <a:p>
            <a:pPr algn="ctr"/>
            <a:r>
              <a:rPr lang="de-CH" dirty="0"/>
              <a:t>cid1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6" idx="2"/>
            <a:endCxn id="10" idx="0"/>
          </p:cNvCxnSpPr>
          <p:nvPr/>
        </p:nvCxnSpPr>
        <p:spPr>
          <a:xfrm>
            <a:off x="6144567" y="2622619"/>
            <a:ext cx="0" cy="699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15623" y="2781003"/>
            <a:ext cx="196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cmd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/>
              <a:t>new state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10" idx="1"/>
            <a:endCxn id="18" idx="3"/>
          </p:cNvCxnSpPr>
          <p:nvPr/>
        </p:nvCxnSpPr>
        <p:spPr>
          <a:xfrm flipH="1" flipV="1">
            <a:off x="2829812" y="3676645"/>
            <a:ext cx="2455621" cy="2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11544" y="3319928"/>
            <a:ext cx="1718268" cy="7134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New Image</a:t>
            </a:r>
          </a:p>
          <a:p>
            <a:pPr algn="ctr"/>
            <a:r>
              <a:rPr lang="de-CH" dirty="0"/>
              <a:t>iid1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9666" y="3322385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commit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8" idx="0"/>
            <a:endCxn id="5" idx="2"/>
          </p:cNvCxnSpPr>
          <p:nvPr/>
        </p:nvCxnSpPr>
        <p:spPr>
          <a:xfrm flipH="1" flipV="1">
            <a:off x="1954404" y="2622620"/>
            <a:ext cx="16274" cy="697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31226" y="280154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base image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5340698" y="4378867"/>
            <a:ext cx="1718268" cy="71343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Container</a:t>
            </a:r>
          </a:p>
          <a:p>
            <a:pPr algn="ctr"/>
            <a:r>
              <a:rPr lang="de-CH" dirty="0"/>
              <a:t>cid2</a:t>
            </a:r>
            <a:endParaRPr lang="en-US" dirty="0"/>
          </a:p>
        </p:txBody>
      </p:sp>
      <p:cxnSp>
        <p:nvCxnSpPr>
          <p:cNvPr id="26" name="Straight Arrow Connector 25"/>
          <p:cNvCxnSpPr>
            <a:stCxn id="18" idx="2"/>
            <a:endCxn id="25" idx="1"/>
          </p:cNvCxnSpPr>
          <p:nvPr/>
        </p:nvCxnSpPr>
        <p:spPr>
          <a:xfrm>
            <a:off x="1970678" y="4033361"/>
            <a:ext cx="3370020" cy="702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14849" y="4045976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run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69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Dockerfile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Create images automatically using a build script: «Dockerfile»</a:t>
            </a:r>
          </a:p>
          <a:p>
            <a:r>
              <a:rPr lang="de-CH" dirty="0"/>
              <a:t>Can be versioned in a version control system like Git or SVN, along with all dependencies</a:t>
            </a:r>
          </a:p>
          <a:p>
            <a:r>
              <a:rPr lang="de-CH" dirty="0"/>
              <a:t>Docker Hub can automatically build images based on dockerfiles on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652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Dockerfile Example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0" y="1923934"/>
            <a:ext cx="6661001" cy="3741142"/>
          </a:xfrm>
        </p:spPr>
        <p:txBody>
          <a:bodyPr/>
          <a:lstStyle/>
          <a:p>
            <a:r>
              <a:rPr lang="de-CH" dirty="0"/>
              <a:t>Dockerfile:</a:t>
            </a:r>
            <a:endParaRPr lang="en-US" dirty="0"/>
          </a:p>
          <a:p>
            <a:pPr lvl="1"/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FROM ubuntu</a:t>
            </a:r>
            <a:b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ENV DOCK_MESSAGE Hello My World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/files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CMD ["bash",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someScript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build [DockerFileDir]</a:t>
            </a:r>
          </a:p>
          <a:p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inspect [imageId]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244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Mount Volumes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4"/>
            <a:ext cx="6113626" cy="3574498"/>
          </a:xfrm>
        </p:spPr>
        <p:txBody>
          <a:bodyPr/>
          <a:lstStyle/>
          <a:p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–ti </a:t>
            </a:r>
            <a:r>
              <a:rPr lang="de-CH" b="1" dirty="0">
                <a:latin typeface="Courier New" panose="02070309020205020404" pitchFamily="49" charset="0"/>
                <a:cs typeface="Courier New" panose="02070309020205020404" pitchFamily="49" charset="0"/>
              </a:rPr>
              <a:t>–v /hostLog:/log</a:t>
            </a:r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 ubuntu</a:t>
            </a:r>
          </a:p>
          <a:p>
            <a:r>
              <a:rPr lang="de-CH" dirty="0"/>
              <a:t>Run second container: Volume can be shared</a:t>
            </a:r>
          </a:p>
          <a:p>
            <a:pPr lvl="1"/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–ti --volumes-from firstContainerName ubuntu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12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Publish Port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3"/>
            <a:ext cx="6113626" cy="4087983"/>
          </a:xfrm>
        </p:spPr>
        <p:txBody>
          <a:bodyPr>
            <a:normAutofit/>
          </a:bodyPr>
          <a:lstStyle/>
          <a:p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–t –p 8080:80 ubuntu nc –l 80</a:t>
            </a:r>
          </a:p>
          <a:p>
            <a:pPr lvl="1"/>
            <a:r>
              <a:rPr lang="de-CH" dirty="0"/>
              <a:t>Map container port 80 to host port 8080</a:t>
            </a:r>
          </a:p>
          <a:p>
            <a:pPr lvl="1"/>
            <a:r>
              <a:rPr lang="de-CH" dirty="0"/>
              <a:t>Check on host: nc localhost 8080</a:t>
            </a:r>
          </a:p>
          <a:p>
            <a:r>
              <a:rPr lang="de-CH" dirty="0"/>
              <a:t>Link with other docker container</a:t>
            </a:r>
          </a:p>
          <a:p>
            <a:pPr lvl="1"/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-ti --link containerName:alias ubuntu</a:t>
            </a:r>
          </a:p>
          <a:p>
            <a:pPr lvl="1"/>
            <a:r>
              <a:rPr lang="de-CH" dirty="0"/>
              <a:t>See link info with </a:t>
            </a:r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90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Around Docker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Docker Images: Docker Hub</a:t>
            </a:r>
          </a:p>
          <a:p>
            <a:r>
              <a:rPr lang="de-CH" dirty="0"/>
              <a:t>Vagrant: «Docker for VMs»</a:t>
            </a:r>
          </a:p>
          <a:p>
            <a:r>
              <a:rPr lang="de-CH" dirty="0"/>
              <a:t>Automated Setup</a:t>
            </a:r>
          </a:p>
          <a:p>
            <a:pPr lvl="1"/>
            <a:r>
              <a:rPr lang="de-CH" dirty="0"/>
              <a:t>Puppet, Chef, Ansible, ...</a:t>
            </a:r>
          </a:p>
          <a:p>
            <a:r>
              <a:rPr lang="de-CH" dirty="0"/>
              <a:t>Docker Ecosystem</a:t>
            </a:r>
          </a:p>
          <a:p>
            <a:pPr lvl="1"/>
            <a:r>
              <a:rPr lang="de-CH" dirty="0"/>
              <a:t>skydock / skydns</a:t>
            </a:r>
          </a:p>
          <a:p>
            <a:pPr lvl="1"/>
            <a:r>
              <a:rPr lang="de-CH" dirty="0"/>
              <a:t>fig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77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Docker Hub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Public repository of Docker images</a:t>
            </a:r>
          </a:p>
          <a:p>
            <a:pPr lvl="1"/>
            <a:r>
              <a:rPr lang="en-US" dirty="0">
                <a:hlinkClick r:id="rId3"/>
              </a:rPr>
              <a:t>https://hub.docker.com/</a:t>
            </a:r>
            <a:endParaRPr lang="en-US" dirty="0"/>
          </a:p>
          <a:p>
            <a:pPr lvl="1"/>
            <a:r>
              <a:rPr lang="de-CH" dirty="0"/>
              <a:t>docker search [term]</a:t>
            </a:r>
          </a:p>
          <a:p>
            <a:r>
              <a:rPr lang="de-CH" dirty="0"/>
              <a:t>Automated: Has been automatically built from Dockerfile</a:t>
            </a:r>
          </a:p>
          <a:p>
            <a:pPr lvl="1"/>
            <a:r>
              <a:rPr lang="de-CH" dirty="0"/>
              <a:t>Source for build is available on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31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Resource Usage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top / ps / free -m</a:t>
            </a:r>
          </a:p>
          <a:p>
            <a:r>
              <a:rPr lang="de-CH" dirty="0"/>
              <a:t>Start 100 WebServer containers</a:t>
            </a:r>
          </a:p>
          <a:p>
            <a:pPr lvl="1"/>
            <a:r>
              <a:rPr lang="en-US" dirty="0" err="1"/>
              <a:t>docker</a:t>
            </a:r>
            <a:r>
              <a:rPr lang="en-US" dirty="0"/>
              <a:t> run -d -p $hostPort:5000 -e "PROVIDER=$provider" training/</a:t>
            </a:r>
            <a:r>
              <a:rPr lang="en-US" dirty="0" err="1"/>
              <a:t>webapp</a:t>
            </a:r>
            <a:endParaRPr lang="en-US" dirty="0"/>
          </a:p>
          <a:p>
            <a:r>
              <a:rPr lang="de-CH" dirty="0"/>
              <a:t>docker ps [containerId]</a:t>
            </a:r>
          </a:p>
          <a:p>
            <a:r>
              <a:rPr lang="de-CH" dirty="0"/>
              <a:t>top / ps / free -m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2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7" y="33338"/>
            <a:ext cx="9133141" cy="67642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About boot2docker:</a:t>
            </a:r>
            <a:endParaRPr lang="en-US" sz="2000" dirty="0">
              <a:solidFill>
                <a:srgbClr val="000000"/>
              </a:solidFill>
              <a:latin typeface="Trebuchet MS"/>
            </a:endParaRPr>
          </a:p>
          <a:p>
            <a:pPr marL="0" indent="0">
              <a:buNone/>
            </a:pP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It is a very small VM image (~30 MB).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It runs on most hypervisors and can also boot on actual hardware.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Boot2Docker is not a "lite" version of Docker.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Docker architecture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Docker is a client-server application.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Docker Engine (or "daemon")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 Receives and processes incoming Docker API requests.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Docker client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 Talks to the Docker daemon via the Docker API.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 We'll use mostly the CLI embedded within the </a:t>
            </a:r>
            <a:r>
              <a:rPr lang="en-US" sz="2000" dirty="0" err="1">
                <a:solidFill>
                  <a:schemeClr val="tx1"/>
                </a:solidFill>
              </a:rPr>
              <a:t>docker</a:t>
            </a:r>
            <a:r>
              <a:rPr lang="en-US" sz="2000" dirty="0">
                <a:solidFill>
                  <a:schemeClr val="tx1"/>
                </a:solidFill>
              </a:rPr>
              <a:t> binary.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Docker Hub Registry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 Collection of public images.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 The Docker daemon talks to it via the registry API.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33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" y="6350"/>
            <a:ext cx="9119044" cy="67770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rebuchet MS"/>
              </a:rPr>
              <a:t>Let's Run Docker container: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latin typeface="Trebuchet MS"/>
              </a:rPr>
              <a:t>     </a:t>
            </a:r>
            <a:r>
              <a:rPr lang="en-US" i="1" dirty="0">
                <a:solidFill>
                  <a:srgbClr val="2E83C3"/>
                </a:solidFill>
                <a:latin typeface="Trebuchet MS"/>
              </a:rPr>
              <a:t>$ </a:t>
            </a:r>
            <a:r>
              <a:rPr lang="en-US" i="1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i="1" dirty="0">
                <a:solidFill>
                  <a:srgbClr val="2E83C3"/>
                </a:solidFill>
                <a:latin typeface="Trebuchet MS"/>
              </a:rPr>
              <a:t> run -it ubuntu</a:t>
            </a:r>
          </a:p>
          <a:p>
            <a:pPr marL="0" indent="0">
              <a:buNone/>
            </a:pPr>
            <a:r>
              <a:rPr lang="en-US" i="1" dirty="0">
                <a:solidFill>
                  <a:srgbClr val="2E83C3"/>
                </a:solidFill>
                <a:latin typeface="Trebuchet MS"/>
              </a:rPr>
              <a:t>     root@04c0bb0a6c07:/#</a:t>
            </a: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  <a:latin typeface="Trebuchet MS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rebuchet MS"/>
              </a:rPr>
              <a:t>-it is shorthand for -</a:t>
            </a:r>
            <a:r>
              <a:rPr lang="en-US" dirty="0" err="1">
                <a:solidFill>
                  <a:schemeClr val="tx1"/>
                </a:solidFill>
                <a:latin typeface="Trebuchet MS"/>
              </a:rPr>
              <a:t>i</a:t>
            </a:r>
            <a:r>
              <a:rPr lang="en-US" dirty="0">
                <a:solidFill>
                  <a:schemeClr val="tx1"/>
                </a:solidFill>
                <a:latin typeface="Trebuchet MS"/>
              </a:rPr>
              <a:t> -t.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rebuchet MS"/>
              </a:rPr>
              <a:t>• -</a:t>
            </a:r>
            <a:r>
              <a:rPr lang="en-US" dirty="0" err="1">
                <a:solidFill>
                  <a:schemeClr val="tx1"/>
                </a:solidFill>
                <a:latin typeface="Trebuchet MS"/>
              </a:rPr>
              <a:t>i</a:t>
            </a:r>
            <a:r>
              <a:rPr lang="en-US" dirty="0">
                <a:solidFill>
                  <a:schemeClr val="tx1"/>
                </a:solidFill>
                <a:latin typeface="Trebuchet MS"/>
              </a:rPr>
              <a:t> tells Docker to connect us to the container's stdin.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rebuchet MS"/>
              </a:rPr>
              <a:t>• -t tells Docker that we want a pseudo-terminal.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rebuchet MS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rebuchet MS"/>
              </a:rPr>
              <a:t>    </a:t>
            </a:r>
            <a:r>
              <a:rPr lang="en-US" dirty="0">
                <a:solidFill>
                  <a:srgbClr val="2E83C3"/>
                </a:solidFill>
                <a:latin typeface="Trebuchet MS"/>
              </a:rPr>
              <a:t> </a:t>
            </a:r>
            <a:r>
              <a:rPr lang="en-US" i="1" dirty="0">
                <a:solidFill>
                  <a:srgbClr val="2E83C3"/>
                </a:solidFill>
                <a:latin typeface="Trebuchet MS"/>
              </a:rPr>
              <a:t>root@04c0bb0a6c07:/# </a:t>
            </a:r>
            <a:r>
              <a:rPr lang="en-US" i="1" dirty="0" err="1">
                <a:solidFill>
                  <a:srgbClr val="2E83C3"/>
                </a:solidFill>
                <a:latin typeface="Trebuchet MS"/>
              </a:rPr>
              <a:t>figlet</a:t>
            </a:r>
            <a:r>
              <a:rPr lang="en-US" i="1" dirty="0">
                <a:solidFill>
                  <a:srgbClr val="2E83C3"/>
                </a:solidFill>
                <a:latin typeface="Trebuchet MS"/>
              </a:rPr>
              <a:t> hello</a:t>
            </a:r>
          </a:p>
          <a:p>
            <a:pPr marL="0" indent="0">
              <a:buNone/>
            </a:pPr>
            <a:r>
              <a:rPr lang="en-US" i="1" dirty="0">
                <a:solidFill>
                  <a:srgbClr val="2E83C3"/>
                </a:solidFill>
                <a:latin typeface="Trebuchet MS"/>
              </a:rPr>
              <a:t>     bash: </a:t>
            </a:r>
            <a:r>
              <a:rPr lang="en-US" i="1" dirty="0" err="1">
                <a:solidFill>
                  <a:srgbClr val="2E83C3"/>
                </a:solidFill>
                <a:latin typeface="Trebuchet MS"/>
              </a:rPr>
              <a:t>figlet</a:t>
            </a:r>
            <a:r>
              <a:rPr lang="en-US" i="1" dirty="0">
                <a:solidFill>
                  <a:srgbClr val="2E83C3"/>
                </a:solidFill>
                <a:latin typeface="Trebuchet MS"/>
              </a:rPr>
              <a:t>: command not found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rebuchet MS"/>
              </a:rPr>
              <a:t>Let's check how many packages are installed here.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rebuchet MS"/>
              </a:rPr>
              <a:t>     </a:t>
            </a:r>
            <a:r>
              <a:rPr lang="en-US" dirty="0">
                <a:solidFill>
                  <a:srgbClr val="2E83C3"/>
                </a:solidFill>
                <a:latin typeface="Trebuchet MS"/>
              </a:rPr>
              <a:t>root@04c0bb0a6c07:/# </a:t>
            </a:r>
            <a:r>
              <a:rPr lang="en-US" dirty="0" err="1">
                <a:solidFill>
                  <a:srgbClr val="2E83C3"/>
                </a:solidFill>
                <a:latin typeface="Trebuchet MS"/>
              </a:rPr>
              <a:t>dpkg</a:t>
            </a:r>
            <a:r>
              <a:rPr lang="en-US" dirty="0">
                <a:solidFill>
                  <a:srgbClr val="2E83C3"/>
                </a:solidFill>
                <a:latin typeface="Trebuchet MS"/>
              </a:rPr>
              <a:t> -l | </a:t>
            </a:r>
            <a:r>
              <a:rPr lang="en-US" dirty="0" err="1">
                <a:solidFill>
                  <a:srgbClr val="2E83C3"/>
                </a:solidFill>
                <a:latin typeface="Trebuchet MS"/>
              </a:rPr>
              <a:t>wc</a:t>
            </a:r>
            <a:r>
              <a:rPr lang="en-US" dirty="0">
                <a:solidFill>
                  <a:srgbClr val="2E83C3"/>
                </a:solidFill>
                <a:latin typeface="Trebuchet MS"/>
              </a:rPr>
              <a:t> -l</a:t>
            </a:r>
          </a:p>
          <a:p>
            <a:pPr marL="0" indent="0">
              <a:buNone/>
            </a:pPr>
            <a:r>
              <a:rPr lang="en-US" dirty="0">
                <a:solidFill>
                  <a:srgbClr val="2E83C3"/>
                </a:solidFill>
                <a:latin typeface="Trebuchet MS"/>
              </a:rPr>
              <a:t>     189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33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19" y="-7938"/>
            <a:ext cx="9118282" cy="6777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Install a package in our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We want </a:t>
            </a:r>
            <a:r>
              <a:rPr lang="en-US" sz="2000" dirty="0" err="1">
                <a:solidFill>
                  <a:schemeClr val="tx1"/>
                </a:solidFill>
              </a:rPr>
              <a:t>figlet</a:t>
            </a:r>
            <a:r>
              <a:rPr lang="en-US" sz="2000" dirty="0">
                <a:solidFill>
                  <a:schemeClr val="tx1"/>
                </a:solidFill>
              </a:rPr>
              <a:t>, so let's install it: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</a:t>
            </a:r>
            <a:r>
              <a:rPr lang="en-US" sz="2000" dirty="0">
                <a:solidFill>
                  <a:srgbClr val="2E83C3"/>
                </a:solidFill>
              </a:rPr>
              <a:t>root@04c0bb0a6c07:/# apt-get update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     apt-get install </a:t>
            </a:r>
            <a:r>
              <a:rPr lang="en-US" sz="2000" dirty="0" err="1">
                <a:solidFill>
                  <a:srgbClr val="2E83C3"/>
                </a:solidFill>
              </a:rPr>
              <a:t>figlet</a:t>
            </a:r>
            <a:endParaRPr lang="en-US" sz="2000" dirty="0">
              <a:solidFill>
                <a:srgbClr val="2E83C3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     </a:t>
            </a:r>
            <a:r>
              <a:rPr lang="en-US" sz="2000" dirty="0" err="1">
                <a:solidFill>
                  <a:srgbClr val="2E83C3"/>
                </a:solidFill>
              </a:rPr>
              <a:t>figlet</a:t>
            </a:r>
            <a:r>
              <a:rPr lang="en-US" sz="2000" dirty="0">
                <a:solidFill>
                  <a:srgbClr val="2E83C3"/>
                </a:solidFill>
              </a:rPr>
              <a:t> hello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Exiting our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Just exit the shell, like you would usually do.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(E.g. with ^D or exit)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     root@04c0bb0a6c07:/# exit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Our container is now in a stopped state.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It still exists on disk, but all compute resources have been freed up.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What if we start a new container, and try to run </a:t>
            </a:r>
            <a:r>
              <a:rPr lang="en-US" sz="2000" dirty="0" err="1">
                <a:solidFill>
                  <a:schemeClr val="tx1"/>
                </a:solidFill>
              </a:rPr>
              <a:t>figlet</a:t>
            </a:r>
            <a:r>
              <a:rPr lang="en-US" sz="2000" dirty="0">
                <a:solidFill>
                  <a:schemeClr val="tx1"/>
                </a:solidFill>
              </a:rPr>
              <a:t> again?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</a:t>
            </a:r>
            <a:r>
              <a:rPr lang="en-US" sz="2000" dirty="0" err="1">
                <a:solidFill>
                  <a:srgbClr val="2E83C3"/>
                </a:solidFill>
              </a:rPr>
              <a:t>docker</a:t>
            </a:r>
            <a:r>
              <a:rPr lang="en-US" sz="2000" dirty="0">
                <a:solidFill>
                  <a:srgbClr val="2E83C3"/>
                </a:solidFill>
              </a:rPr>
              <a:t> run -it ubuntu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     root@b13c164401fb:/# </a:t>
            </a:r>
            <a:r>
              <a:rPr lang="en-US" sz="2000" dirty="0" err="1">
                <a:solidFill>
                  <a:srgbClr val="2E83C3"/>
                </a:solidFill>
              </a:rPr>
              <a:t>figlet</a:t>
            </a:r>
            <a:endParaRPr lang="en-US" sz="2000" dirty="0">
              <a:solidFill>
                <a:srgbClr val="2E83C3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     bash: </a:t>
            </a:r>
            <a:r>
              <a:rPr lang="en-US" sz="2000" dirty="0" err="1">
                <a:solidFill>
                  <a:srgbClr val="2E83C3"/>
                </a:solidFill>
              </a:rPr>
              <a:t>figlet</a:t>
            </a:r>
            <a:r>
              <a:rPr lang="en-US" sz="2000" dirty="0">
                <a:solidFill>
                  <a:srgbClr val="2E83C3"/>
                </a:solidFill>
              </a:rPr>
              <a:t>: command not found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2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8" y="6350"/>
            <a:ext cx="9091802" cy="67492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A non-interactive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We will run a small custom container.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This container just displays the time every second.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     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run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/clock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     Fri Feb 10 12:06:29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     Fri Feb 10 12:06:30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     Fri Feb 10 12:06:31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Menlo"/>
              </a:rPr>
              <a:t>  …..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"/>
              </a:rPr>
              <a:t>This container will run forever.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"/>
              </a:rPr>
              <a:t>To stop it, press ^C.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"/>
              </a:rPr>
              <a:t>Docker has automatically downloaded the image </a:t>
            </a:r>
            <a:r>
              <a:rPr lang="en-US" sz="2000" dirty="0" err="1">
                <a:solidFill>
                  <a:schemeClr val="tx1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chemeClr val="tx1"/>
                </a:solidFill>
                <a:latin typeface="Trebuchet MS"/>
              </a:rPr>
              <a:t>/clock.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"/>
              </a:rPr>
              <a:t>This image is a user image, created by </a:t>
            </a:r>
            <a:r>
              <a:rPr lang="en-US" sz="2000" dirty="0" err="1">
                <a:solidFill>
                  <a:schemeClr val="tx1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chemeClr val="tx1"/>
                </a:solidFill>
                <a:latin typeface="Trebuchet MS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•   We will hear more about user images (and other types of images) later.</a:t>
            </a:r>
          </a:p>
          <a:p>
            <a:pPr marL="0" indent="0">
              <a:buNone/>
            </a:pPr>
            <a:br>
              <a:rPr lang="en-US" sz="2000" dirty="0">
                <a:solidFill>
                  <a:schemeClr val="tx1"/>
                </a:solidFill>
                <a:latin typeface="Menlo"/>
              </a:rPr>
            </a:br>
            <a:endParaRPr lang="en-US" sz="2000" dirty="0">
              <a:solidFill>
                <a:schemeClr val="tx1"/>
              </a:solidFill>
              <a:latin typeface="Menlo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7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925" y="-20638"/>
            <a:ext cx="9228645" cy="680369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Run a container in the background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Containers can be started in the background, with the -d flag (daemon mode):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Menlo"/>
              </a:rPr>
              <a:t>  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   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run -d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/clock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                        6fa196ae66079929244bb741448eb0551fe7e32527570a467101c9d1111ade12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"/>
              </a:rPr>
              <a:t>We don't see the output of the container.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"/>
              </a:rPr>
              <a:t>But don't worry: Docker collects that output and logs it!</a:t>
            </a:r>
          </a:p>
          <a:p>
            <a:r>
              <a:rPr lang="en-US" sz="2000" dirty="0">
                <a:solidFill>
                  <a:schemeClr val="tx1"/>
                </a:solidFill>
                <a:latin typeface="Trebuchet MS"/>
              </a:rPr>
              <a:t>Docker gives us the ID of the container.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rebuchet MS"/>
              </a:rPr>
              <a:t>List running containers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How can we check that our container is still running?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With </a:t>
            </a:r>
            <a:r>
              <a:rPr lang="en-US" sz="2000" dirty="0" err="1">
                <a:solidFill>
                  <a:schemeClr val="tx1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chemeClr val="tx1"/>
                </a:solidFill>
                <a:latin typeface="Trebuchet MS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rebuchet MS"/>
              </a:rPr>
              <a:t>ps</a:t>
            </a:r>
            <a:r>
              <a:rPr lang="en-US" sz="2000" dirty="0">
                <a:solidFill>
                  <a:schemeClr val="tx1"/>
                </a:solidFill>
                <a:latin typeface="Trebuchet MS"/>
              </a:rPr>
              <a:t>, just like the UNIX </a:t>
            </a:r>
            <a:r>
              <a:rPr lang="en-US" sz="2000" dirty="0" err="1">
                <a:solidFill>
                  <a:schemeClr val="tx1"/>
                </a:solidFill>
                <a:latin typeface="Trebuchet MS"/>
              </a:rPr>
              <a:t>ps</a:t>
            </a:r>
            <a:r>
              <a:rPr lang="en-US" sz="2000" dirty="0">
                <a:solidFill>
                  <a:schemeClr val="tx1"/>
                </a:solidFill>
                <a:latin typeface="Trebuchet MS"/>
              </a:rPr>
              <a:t> command, lists running processes.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     [root@ip-172-31-40-252 ~]#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ps</a:t>
            </a:r>
            <a:endParaRPr lang="en-US" sz="2000" dirty="0">
              <a:solidFill>
                <a:srgbClr val="2E83C3"/>
              </a:solidFill>
              <a:latin typeface="Menlo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CONTAINER ID | IMAGE | COMMAND | CREATED | STATUS | PORTS | NAMES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6fa196ae6607 | 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/clock | "/bin/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-c 'while..." | 3 minutes ago       Up 3 minutes | 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condescending_wilson</a:t>
            </a:r>
            <a:endParaRPr lang="en-US" sz="2000" dirty="0">
              <a:solidFill>
                <a:srgbClr val="2E83C3"/>
              </a:solidFill>
              <a:latin typeface="Menlo"/>
            </a:endParaRPr>
          </a:p>
          <a:p>
            <a:pPr marL="0" indent="0">
              <a:buNone/>
            </a:pPr>
            <a:br>
              <a:rPr lang="en-US" sz="2000" dirty="0">
                <a:solidFill>
                  <a:schemeClr val="tx1"/>
                </a:solidFill>
                <a:latin typeface="Trebuchet MS"/>
              </a:rPr>
            </a:br>
            <a:endParaRPr lang="en-US" sz="2000" dirty="0">
              <a:solidFill>
                <a:schemeClr val="tx1"/>
              </a:solidFill>
              <a:latin typeface="Trebuchet MS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rebuchet MS"/>
            </a:endParaRPr>
          </a:p>
          <a:p>
            <a:pPr marL="0" indent="0">
              <a:buNone/>
            </a:pP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7" y="33338"/>
            <a:ext cx="9145841" cy="679088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Docker tells us: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(truncated) ID of our container.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image used to start the container.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That our container has been running (Up) for a couple of minutes.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Other information (COMMAND, PORTS, NAMES) that we will explain later.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Starting more containers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Let's start two more containers.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run -d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/clock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4a12b814fd90bb521ee8325b5448f30b1e97a2d2e21bcc4ef0869269a43b3d61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run -d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/clock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48995a5b2c44d549db38c9ad56abb95ec04af7c2e3a9e22825f28665e2971633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ps</a:t>
            </a:r>
            <a:endParaRPr lang="en-US" sz="2000" dirty="0">
              <a:solidFill>
                <a:srgbClr val="2E83C3"/>
              </a:solidFill>
              <a:latin typeface="Menlo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CONTAINER ID        IMAGE               COMMAND                  CREATED             STATUS              PORTS               NAMES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Menlo"/>
              </a:rPr>
              <a:t>48995a5b2c44       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/clock      "/bin/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-c 'while..."   18 seconds ago  4a12b814fd90       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/clock      "/bin/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-c 'while..."   23 seconds ago    6fa196ae6607        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/clock      "/bin/</a:t>
            </a:r>
            <a:r>
              <a:rPr lang="en-US" sz="2000" dirty="0" err="1">
                <a:solidFill>
                  <a:srgbClr val="2E83C3"/>
                </a:solidFill>
                <a:latin typeface="Menlo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Menlo"/>
              </a:rPr>
              <a:t> -c 'while..."   10 minutes ago   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Check that </a:t>
            </a:r>
            <a:r>
              <a:rPr lang="en-US" sz="2000" dirty="0" err="1">
                <a:solidFill>
                  <a:schemeClr val="tx1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chemeClr val="tx1"/>
                </a:solidFill>
                <a:latin typeface="Trebuchet MS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rebuchet MS"/>
              </a:rPr>
              <a:t>ps</a:t>
            </a:r>
            <a:r>
              <a:rPr lang="en-US" sz="2000" dirty="0">
                <a:solidFill>
                  <a:schemeClr val="tx1"/>
                </a:solidFill>
                <a:latin typeface="Trebuchet MS"/>
              </a:rPr>
              <a:t> correctly reports all 3 containers.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66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7" y="19050"/>
            <a:ext cx="9160128" cy="67777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 see only the last container that was started:</a:t>
            </a:r>
          </a:p>
          <a:p>
            <a:pPr marL="0" indent="0">
              <a:buNone/>
            </a:pPr>
            <a:r>
              <a:rPr lang="en-US" dirty="0">
                <a:solidFill>
                  <a:srgbClr val="2E83C3"/>
                </a:solidFill>
                <a:latin typeface="Menlo"/>
              </a:rPr>
              <a:t>[root@ip-172-31-40-252 ~]# </a:t>
            </a:r>
            <a:r>
              <a:rPr lang="en-US" dirty="0" err="1">
                <a:solidFill>
                  <a:srgbClr val="2E83C3"/>
                </a:solidFill>
                <a:latin typeface="Menlo"/>
              </a:rPr>
              <a:t>docker</a:t>
            </a:r>
            <a:r>
              <a:rPr lang="en-US" dirty="0">
                <a:solidFill>
                  <a:srgbClr val="2E83C3"/>
                </a:solidFill>
                <a:latin typeface="Menlo"/>
              </a:rPr>
              <a:t> </a:t>
            </a:r>
            <a:r>
              <a:rPr lang="en-US" dirty="0" err="1">
                <a:solidFill>
                  <a:srgbClr val="2E83C3"/>
                </a:solidFill>
                <a:latin typeface="Menlo"/>
              </a:rPr>
              <a:t>ps</a:t>
            </a:r>
            <a:r>
              <a:rPr lang="en-US" dirty="0">
                <a:solidFill>
                  <a:srgbClr val="2E83C3"/>
                </a:solidFill>
                <a:latin typeface="Menlo"/>
              </a:rPr>
              <a:t> -l</a:t>
            </a:r>
          </a:p>
          <a:p>
            <a:pPr marL="0" indent="0">
              <a:buNone/>
            </a:pPr>
            <a:r>
              <a:rPr lang="en-US" dirty="0">
                <a:solidFill>
                  <a:srgbClr val="2E83C3"/>
                </a:solidFill>
                <a:latin typeface="Menlo"/>
              </a:rPr>
              <a:t>CONTAINER ID        IMAGE               COMMAND                  48995a5b2c44        </a:t>
            </a:r>
            <a:r>
              <a:rPr lang="en-US" dirty="0" err="1">
                <a:solidFill>
                  <a:srgbClr val="2E83C3"/>
                </a:solidFill>
                <a:latin typeface="Menlo"/>
              </a:rPr>
              <a:t>jpetazzo</a:t>
            </a:r>
            <a:r>
              <a:rPr lang="en-US" dirty="0">
                <a:solidFill>
                  <a:srgbClr val="2E83C3"/>
                </a:solidFill>
                <a:latin typeface="Menlo"/>
              </a:rPr>
              <a:t>/clock      "/bin/</a:t>
            </a:r>
            <a:r>
              <a:rPr lang="en-US" dirty="0" err="1">
                <a:solidFill>
                  <a:srgbClr val="2E83C3"/>
                </a:solidFill>
                <a:latin typeface="Menlo"/>
              </a:rPr>
              <a:t>sh</a:t>
            </a:r>
            <a:r>
              <a:rPr lang="en-US" dirty="0">
                <a:solidFill>
                  <a:srgbClr val="2E83C3"/>
                </a:solidFill>
                <a:latin typeface="Menlo"/>
              </a:rPr>
              <a:t> -c 'while..."  </a:t>
            </a:r>
            <a:r>
              <a:rPr lang="en-US" dirty="0">
                <a:solidFill>
                  <a:schemeClr val="tx1"/>
                </a:solidFill>
                <a:latin typeface="Menlo"/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  <a:latin typeface="Menlo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Menlo"/>
              </a:rPr>
              <a:t>To see only the ID of containers:</a:t>
            </a:r>
          </a:p>
          <a:p>
            <a:pPr marL="0" indent="0">
              <a:buNone/>
            </a:pPr>
            <a:r>
              <a:rPr lang="en-US" dirty="0">
                <a:solidFill>
                  <a:srgbClr val="2E83C3"/>
                </a:solidFill>
                <a:latin typeface="Menlo"/>
              </a:rPr>
              <a:t>[root@ip-172-31-40-252 ~]# </a:t>
            </a:r>
            <a:r>
              <a:rPr lang="en-US" dirty="0" err="1">
                <a:solidFill>
                  <a:srgbClr val="2E83C3"/>
                </a:solidFill>
                <a:latin typeface="Menlo"/>
              </a:rPr>
              <a:t>docker</a:t>
            </a:r>
            <a:r>
              <a:rPr lang="en-US" dirty="0">
                <a:solidFill>
                  <a:srgbClr val="2E83C3"/>
                </a:solidFill>
                <a:latin typeface="Menlo"/>
              </a:rPr>
              <a:t> </a:t>
            </a:r>
            <a:r>
              <a:rPr lang="en-US" dirty="0" err="1">
                <a:solidFill>
                  <a:srgbClr val="2E83C3"/>
                </a:solidFill>
                <a:latin typeface="Menlo"/>
              </a:rPr>
              <a:t>ps</a:t>
            </a:r>
            <a:r>
              <a:rPr lang="en-US" dirty="0">
                <a:solidFill>
                  <a:srgbClr val="2E83C3"/>
                </a:solidFill>
                <a:latin typeface="Menlo"/>
              </a:rPr>
              <a:t> -q</a:t>
            </a:r>
          </a:p>
          <a:p>
            <a:pPr marL="0" indent="0">
              <a:buNone/>
            </a:pPr>
            <a:r>
              <a:rPr lang="en-US" dirty="0">
                <a:solidFill>
                  <a:srgbClr val="2E83C3"/>
                </a:solidFill>
                <a:latin typeface="Menlo"/>
              </a:rPr>
              <a:t>48995a5b2c44</a:t>
            </a:r>
          </a:p>
          <a:p>
            <a:pPr marL="0" indent="0">
              <a:buNone/>
            </a:pPr>
            <a:r>
              <a:rPr lang="en-US" dirty="0">
                <a:solidFill>
                  <a:srgbClr val="2E83C3"/>
                </a:solidFill>
                <a:latin typeface="Menlo"/>
              </a:rPr>
              <a:t>4a12b814fd90</a:t>
            </a:r>
          </a:p>
          <a:p>
            <a:pPr marL="0" indent="0">
              <a:buNone/>
            </a:pPr>
            <a:r>
              <a:rPr lang="en-US" dirty="0">
                <a:solidFill>
                  <a:srgbClr val="2E83C3"/>
                </a:solidFill>
                <a:latin typeface="Menlo"/>
              </a:rPr>
              <a:t>6fa196ae6607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  <a:latin typeface="Menlo"/>
              </a:rPr>
            </a:br>
            <a:r>
              <a:rPr lang="en-US" sz="2000" dirty="0">
                <a:solidFill>
                  <a:schemeClr val="tx1"/>
                </a:solidFill>
                <a:latin typeface="Trebuchet MS"/>
              </a:rPr>
              <a:t>Combine those flags to see only the ID of the last container started!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ps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ql</a:t>
            </a:r>
            <a:endParaRPr lang="en-US" sz="2000" dirty="0">
              <a:solidFill>
                <a:srgbClr val="2E83C3"/>
              </a:solidFill>
              <a:latin typeface="Trebuchet M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48995a5b2c44</a:t>
            </a:r>
          </a:p>
          <a:p>
            <a:pPr marL="0" indent="0">
              <a:buNone/>
            </a:pPr>
            <a:br>
              <a:rPr lang="en-US" sz="1100" dirty="0">
                <a:solidFill>
                  <a:schemeClr val="tx1"/>
                </a:solidFill>
                <a:latin typeface="Calibri"/>
              </a:rPr>
            </a:br>
            <a:endParaRPr lang="en-US" sz="1100" dirty="0">
              <a:solidFill>
                <a:schemeClr val="tx1"/>
              </a:solidFill>
              <a:latin typeface="Calibri"/>
            </a:endParaRPr>
          </a:p>
          <a:p>
            <a:pPr marL="0" indent="0">
              <a:buNone/>
            </a:pPr>
            <a:endParaRPr lang="en-US" sz="1100" dirty="0">
              <a:solidFill>
                <a:schemeClr val="tx1"/>
              </a:solidFill>
              <a:latin typeface="Calibri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58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938" y="-20989"/>
            <a:ext cx="9132888" cy="68043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View the logs of a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We told you that Docker was logging the container output.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Let's see that now.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logs 4899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12:24:43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12:24:44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12:24:45 UTC 2017...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We specified a prefix of the full container ID(we can specify full ID as well).</a:t>
            </a:r>
            <a:endParaRPr lang="en-US" sz="2000" b="1" dirty="0">
              <a:solidFill>
                <a:schemeClr val="tx1"/>
              </a:solidFill>
              <a:latin typeface="Trebuchet MS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rebuchet MS"/>
              </a:rPr>
              <a:t>View only the tail of the logs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logs --tail 3 4899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12:38:59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12:39:00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12:39:01 UTC 2017</a:t>
            </a:r>
            <a:br>
              <a:rPr lang="en-US" sz="2000" b="1" dirty="0">
                <a:solidFill>
                  <a:schemeClr val="tx1"/>
                </a:solidFill>
                <a:latin typeface="Trebuchet MS"/>
              </a:rPr>
            </a:b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parameter is the number of lines that we want to see.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12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7" y="6350"/>
            <a:ext cx="9118853" cy="67629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Follow the logs in real time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Just like with the standard UNIX command tail -f, we can follow the logs of our container: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logs --tail 1 --follow 4899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12:42:50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12:42:51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12:42:52 UTC 2017</a:t>
            </a:r>
          </a:p>
          <a:p>
            <a:pPr marL="0" indent="0">
              <a:buNone/>
            </a:pP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  <a:latin typeface="Trebuchet MS"/>
              </a:rPr>
              <a:t>This will display the last line in the log file.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• Then, it will continue to display the logs in real time.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• Use ^C to exit.</a:t>
            </a:r>
          </a:p>
          <a:p>
            <a:pPr marL="0" indent="0">
              <a:buNone/>
            </a:pPr>
            <a:endParaRPr lang="en-US" sz="20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41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19" y="19050"/>
            <a:ext cx="9146857" cy="67640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Stop our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There are two ways we can terminate our detached container.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• Killing it using the </a:t>
            </a:r>
            <a:r>
              <a:rPr lang="en-US" sz="2000" dirty="0" err="1">
                <a:solidFill>
                  <a:schemeClr val="tx1"/>
                </a:solidFill>
              </a:rPr>
              <a:t>docker</a:t>
            </a:r>
            <a:r>
              <a:rPr lang="en-US" sz="2000" dirty="0">
                <a:solidFill>
                  <a:schemeClr val="tx1"/>
                </a:solidFill>
              </a:rPr>
              <a:t> kill command.</a:t>
            </a: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     • Stopping it using the </a:t>
            </a:r>
            <a:r>
              <a:rPr lang="en-US" sz="2000" dirty="0" err="1">
                <a:solidFill>
                  <a:schemeClr val="tx1"/>
                </a:solidFill>
              </a:rPr>
              <a:t>docker</a:t>
            </a:r>
            <a:r>
              <a:rPr lang="en-US" sz="2000" dirty="0">
                <a:solidFill>
                  <a:schemeClr val="tx1"/>
                </a:solidFill>
              </a:rPr>
              <a:t> stop command.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The first one stops the container immediately, by using the KILL signal.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The second one is more graceful. It sends a TERM signal, and after 10 seconds, if the container has not stopped, it sends KILL.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Reminder: the KILL signal cannot be intercepted, and will forcibly terminate the container.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stop 4899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4899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kill 4a12 6fa1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4a12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6fa1</a:t>
            </a:r>
            <a:br>
              <a:rPr lang="en-US" sz="2000" dirty="0">
                <a:solidFill>
                  <a:schemeClr val="tx1"/>
                </a:solidFill>
                <a:latin typeface="Trebuchet MS"/>
              </a:rPr>
            </a:b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ps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rebuchet MS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49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7" y="19050"/>
            <a:ext cx="9133141" cy="67502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List stopped containers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We can also see stopped containers, with the -a (--all) option.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[root@ip-172-31-40-252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ps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-a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CONTAINER ID        IMAGE               COMMAND                  CREATED             STATUS                           PORTS               NAMES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48995a5b2c44       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/clock      "/bin/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-c 'while..."   47 minutes ago    4a12b814fd90       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/clock      "/bin/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-c 'while..."   48 minutes ago    6fa196ae6607       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/clock      "/bin/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-c 'while..."   58 minutes ago    6be8e11a963a       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jpetazzo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/clock      "/bin/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sh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-c 'while..."   About an hour ago 55a3487e675c        ubuntu              "/bin/bash"              About an hour ago   722884d8a45a        ubuntu              "/bin/bash"              About an hour ago   Exited (0) About an hour ago                        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eager_swanson</a:t>
            </a:r>
            <a:endParaRPr lang="en-US" sz="2000" dirty="0">
              <a:solidFill>
                <a:srgbClr val="2E83C3"/>
              </a:solidFill>
              <a:latin typeface="Trebuchet M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560e27fd8024       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busybox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            "echo hello world"       About an hour ago   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cf325c1951da        ubuntu              "echo Hello World"       5 hours ago         Exited </a:t>
            </a:r>
          </a:p>
          <a:p>
            <a:pPr marL="0" indent="0">
              <a:buNone/>
            </a:pP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24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8575" y="-28575"/>
            <a:ext cx="9098888" cy="67907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Restarting and Attaching to Containers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We have started containers in the foreground, and in the background.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Now We will see how to.</a:t>
            </a:r>
          </a:p>
          <a:p>
            <a:r>
              <a:rPr lang="en-US" sz="2000" dirty="0">
                <a:solidFill>
                  <a:schemeClr val="tx1"/>
                </a:solidFill>
              </a:rPr>
              <a:t>Put a container in the background.</a:t>
            </a:r>
          </a:p>
          <a:p>
            <a:r>
              <a:rPr lang="en-US" sz="2000" dirty="0">
                <a:solidFill>
                  <a:schemeClr val="tx1"/>
                </a:solidFill>
              </a:rPr>
              <a:t>Attach to a background container to bring it to the foreground.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Restart a stopped container.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Background and foreground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distinction between foreground and background containers is arbitrary.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From Docker's point of view, all containers are the same.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All containers run the same way, whether there is a client attached to them or not.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It is always possible to detach from a container, and to reattach to a container.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Analogy: attaching to a container is like plugging a keyboard and screen to a physical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server.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71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7" y="9525"/>
            <a:ext cx="9116351" cy="67553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Detaching from a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If you have started an interactive container (with option -it),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you can detach from it.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• The "detach" sequence is ^P^Q.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• Otherwise you can detach by killing the Docker client.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(But not by hitting ^C, as this would deliver SIGINT to the container.)</a:t>
            </a:r>
            <a:endParaRPr lang="en-US" sz="20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Specifying a custom detach sequence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• You don't like ^P^Q? No problem!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• You can change the sequence with </a:t>
            </a:r>
            <a:r>
              <a:rPr lang="en-US" sz="2000" dirty="0" err="1">
                <a:solidFill>
                  <a:schemeClr val="tx1"/>
                </a:solidFill>
              </a:rPr>
              <a:t>docker</a:t>
            </a:r>
            <a:r>
              <a:rPr lang="en-US" sz="2000" dirty="0">
                <a:solidFill>
                  <a:schemeClr val="tx1"/>
                </a:solidFill>
              </a:rPr>
              <a:t> run --detach-keys.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• This can also be passed as a global option to the engine.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Start a container with a custom detach command: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40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7" y="9525"/>
            <a:ext cx="9116351" cy="67553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Attaching to a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You can attach to a container: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[root@ip-172-31-22-188 ~]# </a:t>
            </a:r>
            <a:r>
              <a:rPr lang="en-US" sz="2000" dirty="0" err="1">
                <a:solidFill>
                  <a:srgbClr val="2E83C3"/>
                </a:solidFill>
              </a:rPr>
              <a:t>docker</a:t>
            </a:r>
            <a:r>
              <a:rPr lang="en-US" sz="2000" dirty="0">
                <a:solidFill>
                  <a:srgbClr val="2E83C3"/>
                </a:solidFill>
              </a:rPr>
              <a:t> attach 0b7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Fri Feb 10 15:51:29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Fri Feb 10 15:51:30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rebuchet MS"/>
              </a:rPr>
              <a:t>Try it on our previous container: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[root@ip-172-31-22-188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ps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lq</a:t>
            </a:r>
            <a:endParaRPr lang="en-US" sz="2000" dirty="0">
              <a:solidFill>
                <a:srgbClr val="2E83C3"/>
              </a:solidFill>
              <a:latin typeface="Trebuchet M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0b7c9d7c177f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[root@ip-172-31-22-188 ~]#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attach $(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docker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ps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 -</a:t>
            </a:r>
            <a:r>
              <a:rPr lang="en-US" sz="2000" dirty="0" err="1">
                <a:solidFill>
                  <a:srgbClr val="2E83C3"/>
                </a:solidFill>
                <a:latin typeface="Trebuchet MS"/>
              </a:rPr>
              <a:t>lq</a:t>
            </a:r>
            <a:r>
              <a:rPr lang="en-US" sz="2000" dirty="0">
                <a:solidFill>
                  <a:srgbClr val="2E83C3"/>
                </a:solidFill>
                <a:latin typeface="Trebuchet MS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16:02:33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  <a:latin typeface="Trebuchet MS"/>
              </a:rPr>
              <a:t>Fri Feb 10 16:02:34 UTC 2017</a:t>
            </a:r>
            <a:br>
              <a:rPr lang="en-US" sz="2000" dirty="0">
                <a:solidFill>
                  <a:schemeClr val="tx1"/>
                </a:solidFill>
                <a:latin typeface="Trebuchet MS"/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85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7" y="9525"/>
            <a:ext cx="9133813" cy="67729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Restarting a container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When a container has exited, it is in stopped state.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It can then be restarted with the start command.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[root@ip-172-31-22-188 ~]# </a:t>
            </a:r>
            <a:r>
              <a:rPr lang="en-US" sz="2000" dirty="0" err="1">
                <a:solidFill>
                  <a:srgbClr val="2E83C3"/>
                </a:solidFill>
              </a:rPr>
              <a:t>docker</a:t>
            </a:r>
            <a:r>
              <a:rPr lang="en-US" sz="2000" dirty="0">
                <a:solidFill>
                  <a:srgbClr val="2E83C3"/>
                </a:solidFill>
              </a:rPr>
              <a:t> start 52d7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52d7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[root@ip-172-31-22-188 ~]# </a:t>
            </a:r>
            <a:r>
              <a:rPr lang="en-US" sz="2000" dirty="0" err="1">
                <a:solidFill>
                  <a:srgbClr val="2E83C3"/>
                </a:solidFill>
              </a:rPr>
              <a:t>docker</a:t>
            </a:r>
            <a:r>
              <a:rPr lang="en-US" sz="2000" dirty="0">
                <a:solidFill>
                  <a:srgbClr val="2E83C3"/>
                </a:solidFill>
              </a:rPr>
              <a:t> </a:t>
            </a:r>
            <a:r>
              <a:rPr lang="en-US" sz="2000" dirty="0" err="1">
                <a:solidFill>
                  <a:srgbClr val="2E83C3"/>
                </a:solidFill>
              </a:rPr>
              <a:t>ps</a:t>
            </a:r>
            <a:r>
              <a:rPr lang="en-US" sz="2000" dirty="0">
                <a:solidFill>
                  <a:srgbClr val="2E83C3"/>
                </a:solidFill>
              </a:rPr>
              <a:t> -a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CONTAINER ID        IMAGE               COMMAND                  CREATED             STATUS                        PORTS               NAMES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0b7c9d7c177f        </a:t>
            </a:r>
            <a:r>
              <a:rPr lang="en-US" sz="2000" dirty="0" err="1">
                <a:solidFill>
                  <a:srgbClr val="2E83C3"/>
                </a:solidFill>
              </a:rPr>
              <a:t>jpetazzo</a:t>
            </a:r>
            <a:r>
              <a:rPr lang="en-US" sz="2000" dirty="0">
                <a:solidFill>
                  <a:srgbClr val="2E83C3"/>
                </a:solidFill>
              </a:rPr>
              <a:t>/clock      "/bin/</a:t>
            </a:r>
            <a:r>
              <a:rPr lang="en-US" sz="2000" dirty="0" err="1">
                <a:solidFill>
                  <a:srgbClr val="2E83C3"/>
                </a:solidFill>
              </a:rPr>
              <a:t>sh</a:t>
            </a:r>
            <a:r>
              <a:rPr lang="en-US" sz="2000" dirty="0">
                <a:solidFill>
                  <a:srgbClr val="2E83C3"/>
                </a:solidFill>
              </a:rPr>
              <a:t> -c 'while..."   33 minutes ago      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52d718bb0826        </a:t>
            </a:r>
            <a:r>
              <a:rPr lang="en-US" sz="2000" dirty="0" err="1">
                <a:solidFill>
                  <a:srgbClr val="2E83C3"/>
                </a:solidFill>
              </a:rPr>
              <a:t>jpetazzo</a:t>
            </a:r>
            <a:r>
              <a:rPr lang="en-US" sz="2000" dirty="0">
                <a:solidFill>
                  <a:srgbClr val="2E83C3"/>
                </a:solidFill>
              </a:rPr>
              <a:t>/clock      "/bin/</a:t>
            </a:r>
            <a:r>
              <a:rPr lang="en-US" sz="2000" dirty="0" err="1">
                <a:solidFill>
                  <a:srgbClr val="2E83C3"/>
                </a:solidFill>
              </a:rPr>
              <a:t>sh</a:t>
            </a:r>
            <a:r>
              <a:rPr lang="en-US" sz="2000" dirty="0">
                <a:solidFill>
                  <a:srgbClr val="2E83C3"/>
                </a:solidFill>
              </a:rPr>
              <a:t> -c 'while..."   36 minutes ago   </a:t>
            </a:r>
            <a:r>
              <a:rPr lang="en-US" sz="2000" dirty="0">
                <a:solidFill>
                  <a:schemeClr val="tx1"/>
                </a:solidFill>
              </a:rPr>
              <a:t>                      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[root@ip-172-31-22-188 ~]# </a:t>
            </a:r>
            <a:r>
              <a:rPr lang="en-US" sz="2000" dirty="0" err="1">
                <a:solidFill>
                  <a:srgbClr val="2E83C3"/>
                </a:solidFill>
              </a:rPr>
              <a:t>docker</a:t>
            </a:r>
            <a:r>
              <a:rPr lang="en-US" sz="2000" dirty="0">
                <a:solidFill>
                  <a:srgbClr val="2E83C3"/>
                </a:solidFill>
              </a:rPr>
              <a:t> attach 52d7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Fri Feb 10 16:23:39 UTC 2017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E83C3"/>
                </a:solidFill>
              </a:rPr>
              <a:t>Fri Feb 10 16:23:40 UTC 2017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26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7" y="9525"/>
            <a:ext cx="9133813" cy="67729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933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Docker Use Cases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3"/>
            <a:ext cx="6113626" cy="4091855"/>
          </a:xfrm>
        </p:spPr>
        <p:txBody>
          <a:bodyPr/>
          <a:lstStyle/>
          <a:p>
            <a:r>
              <a:rPr lang="de-CH" dirty="0"/>
              <a:t>Development Environment</a:t>
            </a:r>
          </a:p>
          <a:p>
            <a:r>
              <a:rPr lang="de-CH" dirty="0"/>
              <a:t>Environments for Integration Tests</a:t>
            </a:r>
          </a:p>
          <a:p>
            <a:r>
              <a:rPr lang="de-CH" dirty="0"/>
              <a:t>Quick evaluation of software</a:t>
            </a:r>
          </a:p>
          <a:p>
            <a:r>
              <a:rPr lang="de-CH" dirty="0"/>
              <a:t>Microservices</a:t>
            </a:r>
          </a:p>
          <a:p>
            <a:r>
              <a:rPr lang="de-CH" dirty="0"/>
              <a:t>Multi-Tenancy</a:t>
            </a:r>
          </a:p>
          <a:p>
            <a:r>
              <a:rPr lang="de-CH" dirty="0"/>
              <a:t>Unified execution environment (dev </a:t>
            </a:r>
            <a:r>
              <a:rPr lang="de-CH" dirty="0">
                <a:sym typeface="Wingdings" panose="05000000000000000000" pitchFamily="2" charset="2"/>
              </a:rPr>
              <a:t> test  prod (local, VM, cloud, ...)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399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65F8-D0B2-3245-A9F6-5F06F5A3A0C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Documentation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11551" y="1923934"/>
            <a:ext cx="7771502" cy="4127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dirty="0"/>
              <a:t>Docker homepage: </a:t>
            </a:r>
            <a:r>
              <a:rPr lang="de-CH" dirty="0">
                <a:hlinkClick r:id="rId2"/>
              </a:rPr>
              <a:t>https://www.docker.com/</a:t>
            </a:r>
            <a:endParaRPr lang="de-CH" dirty="0"/>
          </a:p>
          <a:p>
            <a:pPr lvl="1"/>
            <a:r>
              <a:rPr lang="de-CH" dirty="0"/>
              <a:t>Introduction: </a:t>
            </a:r>
            <a:r>
              <a:rPr lang="de-CH" dirty="0">
                <a:hlinkClick r:id="rId3"/>
              </a:rPr>
              <a:t>https://www.docker.com/whatisdocker/</a:t>
            </a:r>
            <a:r>
              <a:rPr lang="de-CH" dirty="0"/>
              <a:t> </a:t>
            </a:r>
          </a:p>
          <a:p>
            <a:pPr lvl="1"/>
            <a:r>
              <a:rPr lang="de-CH" dirty="0"/>
              <a:t>Online tutorial: </a:t>
            </a:r>
            <a:r>
              <a:rPr lang="de-CH" dirty="0">
                <a:hlinkClick r:id="rId4"/>
              </a:rPr>
              <a:t>https://www.docker.com/tryit/</a:t>
            </a:r>
            <a:endParaRPr lang="de-CH" dirty="0"/>
          </a:p>
          <a:p>
            <a:pPr lvl="1"/>
            <a:r>
              <a:rPr lang="de-CH" dirty="0"/>
              <a:t>Installation and user guide: </a:t>
            </a:r>
            <a:r>
              <a:rPr lang="de-CH" dirty="0">
                <a:hlinkClick r:id="rId5"/>
              </a:rPr>
              <a:t>https://docs.docker.com/</a:t>
            </a:r>
            <a:endParaRPr lang="de-CH" dirty="0"/>
          </a:p>
          <a:p>
            <a:pPr marL="457200" lvl="1" indent="0">
              <a:buNone/>
            </a:pPr>
            <a:endParaRPr lang="de-CH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509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7188</TotalTime>
  <Words>1278</Words>
  <Application>Microsoft Office PowerPoint</Application>
  <PresentationFormat>On-screen Show (4:3)</PresentationFormat>
  <Paragraphs>261</Paragraphs>
  <Slides>41</Slides>
  <Notes>32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Northstar PG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Donny Epp</dc:creator>
  <cp:lastModifiedBy>Martin</cp:lastModifiedBy>
  <cp:revision>78</cp:revision>
  <dcterms:created xsi:type="dcterms:W3CDTF">2011-11-08T16:41:51Z</dcterms:created>
  <dcterms:modified xsi:type="dcterms:W3CDTF">2017-02-11T05:34:49Z</dcterms:modified>
</cp:coreProperties>
</file>